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4" r:id="rId2"/>
    <p:sldId id="699" r:id="rId3"/>
    <p:sldId id="688" r:id="rId4"/>
    <p:sldId id="700" r:id="rId5"/>
    <p:sldId id="342" r:id="rId6"/>
    <p:sldId id="343" r:id="rId7"/>
    <p:sldId id="616" r:id="rId8"/>
    <p:sldId id="676" r:id="rId9"/>
    <p:sldId id="696" r:id="rId10"/>
    <p:sldId id="701" r:id="rId11"/>
    <p:sldId id="702" r:id="rId12"/>
    <p:sldId id="678" r:id="rId13"/>
    <p:sldId id="328" r:id="rId14"/>
    <p:sldId id="327" r:id="rId15"/>
    <p:sldId id="679" r:id="rId16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>
        <p:scale>
          <a:sx n="100" d="100"/>
          <a:sy n="100" d="100"/>
        </p:scale>
        <p:origin x="93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2026/8/28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2026/8/28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1DFA54ED-9443-1B83-0F92-9DC9AB0170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E8F59BBA-20E8-46D8-4764-D68638318D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7EA43F0-7543-F5BA-532C-570241F1A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14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F629-3B2C-992D-D491-E7F4005F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E4E1B9BE-0410-E7A1-9C18-170549D3E9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359DCC97-E18A-2931-DCC4-34750E7653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C783766B-9FC4-DDB0-B1FF-030952548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857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2026/8/28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2026/08/24</a:t>
            </a:r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2026/08/28</a:t>
            </a: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450E-7513-0A3A-28D5-23949689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B6066E3-B015-8F11-8EC0-17BC6937A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751422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/>
              <a:t>8/27 </a:t>
            </a:r>
            <a:r>
              <a:rPr lang="zh-TW" altLang="en-US" sz="2000" b="1" dirty="0"/>
              <a:t>現場放樣（材料不夠隔日繼續）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/>
              <a:t>8/27</a:t>
            </a:r>
            <a:r>
              <a:rPr lang="zh-TW" altLang="en-US" sz="2000" b="1" dirty="0"/>
              <a:t> 鑽孔測試（</a:t>
            </a:r>
            <a:r>
              <a:rPr lang="en-US" altLang="zh-TW" sz="2000" b="1" dirty="0"/>
              <a:t>6</a:t>
            </a:r>
            <a:r>
              <a:rPr lang="zh-TW" altLang="en-US" sz="2000" b="1" dirty="0"/>
              <a:t> 墩座分別為北中南各隨機 </a:t>
            </a:r>
            <a:r>
              <a:rPr lang="en-US" altLang="zh-TW" sz="2000" b="1" dirty="0"/>
              <a:t>2 </a:t>
            </a:r>
            <a:r>
              <a:rPr lang="zh-TW" altLang="en-US" sz="2000" b="1" dirty="0"/>
              <a:t>座）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solidFill>
                  <a:schemeClr val="accent2"/>
                </a:solidFill>
              </a:rPr>
              <a:t>8/27</a:t>
            </a:r>
            <a:r>
              <a:rPr lang="zh-TW" altLang="en-US" sz="2000" b="1" dirty="0">
                <a:solidFill>
                  <a:schemeClr val="accent2"/>
                </a:solidFill>
              </a:rPr>
              <a:t> 台積電工單系統吊掛申請確認</a:t>
            </a:r>
          </a:p>
          <a:p>
            <a:pPr>
              <a:spcBef>
                <a:spcPts val="500"/>
              </a:spcBef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預計 </a:t>
            </a:r>
            <a:r>
              <a:rPr lang="en-US" altLang="zh-TW" sz="2000" b="1" dirty="0"/>
              <a:t>8/28</a:t>
            </a:r>
            <a:r>
              <a:rPr lang="zh-TW" altLang="en-US" sz="2000" b="1" dirty="0"/>
              <a:t> 全部墩座放樣確認狀況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預計 </a:t>
            </a:r>
            <a:r>
              <a:rPr lang="en-US" altLang="zh-TW" sz="2000" b="1" dirty="0"/>
              <a:t>9/3</a:t>
            </a:r>
            <a:r>
              <a:rPr lang="zh-TW" altLang="en-US" sz="2000" b="1" dirty="0"/>
              <a:t> 吊掛相關工單申請與前置事項處置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E49653C-C60B-0CC9-D66F-126F70FB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台積電 </a:t>
            </a:r>
            <a:r>
              <a:rPr lang="en-US" altLang="zh-TW" sz="3200" b="1" dirty="0"/>
              <a:t>AP7</a:t>
            </a:r>
            <a:r>
              <a:rPr lang="zh-TW" altLang="en-US" sz="3200" b="1" dirty="0"/>
              <a:t>－其民</a:t>
            </a:r>
          </a:p>
        </p:txBody>
      </p:sp>
    </p:spTree>
    <p:extLst>
      <p:ext uri="{BB962C8B-B14F-4D97-AF65-F5344CB8AC3E}">
        <p14:creationId xmlns:p14="http://schemas.microsoft.com/office/powerpoint/2010/main" val="308876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A94C-B008-5A90-2415-36D6DA26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1FA9023-B292-BB11-DC2E-B2A4818C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21" y="2038196"/>
            <a:ext cx="10593759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週日</a:t>
            </a:r>
            <a:r>
              <a:rPr lang="zh-TW" altLang="en-US" sz="2000" b="1" dirty="0">
                <a:solidFill>
                  <a:schemeClr val="accent2"/>
                </a:solidFill>
              </a:rPr>
              <a:t>（六日加班）</a:t>
            </a:r>
            <a:r>
              <a:rPr lang="zh-TW" altLang="en-US" sz="2000" b="1" dirty="0"/>
              <a:t>須於</a:t>
            </a:r>
            <a:r>
              <a:rPr lang="zh-TW" altLang="en-US" sz="2000" b="1" dirty="0">
                <a:solidFill>
                  <a:schemeClr val="accent2"/>
                </a:solidFill>
              </a:rPr>
              <a:t>週四中午前</a:t>
            </a:r>
            <a:r>
              <a:rPr lang="zh-TW" altLang="en-US" sz="2000" b="1" dirty="0"/>
              <a:t>提報高信公安（人員加單數量與工項）並於公用電腦</a:t>
            </a:r>
            <a:r>
              <a:rPr lang="zh-TW" altLang="en-US" sz="2000" b="1" dirty="0">
                <a:solidFill>
                  <a:schemeClr val="accent2"/>
                </a:solidFill>
              </a:rPr>
              <a:t>打單</a:t>
            </a:r>
          </a:p>
          <a:p>
            <a:r>
              <a:rPr lang="zh-TW" altLang="en-US" sz="2000" b="1" dirty="0"/>
              <a:t>夜間加班需打工單</a:t>
            </a:r>
            <a:r>
              <a:rPr lang="zh-TW" altLang="en-US" sz="2000" b="1" dirty="0">
                <a:solidFill>
                  <a:schemeClr val="accent2"/>
                </a:solidFill>
              </a:rPr>
              <a:t>（夜間加班）</a:t>
            </a:r>
            <a:r>
              <a:rPr lang="zh-TW" altLang="en-US" sz="2000" b="1" dirty="0"/>
              <a:t>一天一張可預先打，事後無加班日期須刪除該單據</a:t>
            </a:r>
            <a:r>
              <a:rPr lang="zh-TW" altLang="en-US" sz="2000" b="1" dirty="0">
                <a:solidFill>
                  <a:schemeClr val="accent2"/>
                </a:solidFill>
              </a:rPr>
              <a:t>（無申請不得滯留現場）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r>
              <a:rPr lang="zh-TW" altLang="en-US" sz="2000" b="1" dirty="0"/>
              <a:t>目前</a:t>
            </a:r>
            <a:r>
              <a:rPr lang="zh-TW" altLang="en-US" sz="2000" b="1" dirty="0">
                <a:solidFill>
                  <a:schemeClr val="accent2"/>
                </a:solidFill>
              </a:rPr>
              <a:t>五、六樓禁止人員進入</a:t>
            </a:r>
            <a:r>
              <a:rPr lang="zh-TW" altLang="en-US" sz="2000" b="1" dirty="0">
                <a:solidFill>
                  <a:schemeClr val="tx2"/>
                </a:solidFill>
              </a:rPr>
              <a:t>，</a:t>
            </a:r>
            <a:r>
              <a:rPr lang="en-US" altLang="zh-TW" sz="2000" b="1" dirty="0">
                <a:solidFill>
                  <a:schemeClr val="tx2"/>
                </a:solidFill>
              </a:rPr>
              <a:t>7</a:t>
            </a:r>
            <a:r>
              <a:rPr lang="zh-TW" altLang="en-US" sz="2000" b="1" dirty="0">
                <a:solidFill>
                  <a:schemeClr val="tx2"/>
                </a:solidFill>
              </a:rPr>
              <a:t> 號</a:t>
            </a:r>
            <a:r>
              <a:rPr lang="zh-TW" altLang="en-US" sz="2000" b="1" dirty="0"/>
              <a:t>電梯一樓～五、六樓（但不可到達七樓太陽能案場），</a:t>
            </a:r>
            <a:endParaRPr lang="en-US" altLang="zh-TW" sz="2000" b="1" dirty="0"/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    </a:t>
            </a:r>
            <a:r>
              <a:rPr lang="en-US" altLang="zh-TW" sz="2000" b="1" dirty="0">
                <a:solidFill>
                  <a:schemeClr val="accent2"/>
                </a:solidFill>
              </a:rPr>
              <a:t>4</a:t>
            </a:r>
            <a:r>
              <a:rPr lang="zh-TW" altLang="en-US" sz="2000" b="1" dirty="0">
                <a:solidFill>
                  <a:schemeClr val="accent2"/>
                </a:solidFill>
              </a:rPr>
              <a:t> 號電梯一樓～四樓（於四樓走樓梯到達七樓案場）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r>
              <a:rPr lang="zh-TW" altLang="en-US" sz="2000" b="1" dirty="0"/>
              <a:t>物品攜帶攜出須於工單上填寫申請</a:t>
            </a:r>
            <a:r>
              <a:rPr lang="zh-TW" altLang="en-US" sz="2000" b="1" dirty="0">
                <a:solidFill>
                  <a:schemeClr val="accent2"/>
                </a:solidFill>
              </a:rPr>
              <a:t>入廠</a:t>
            </a:r>
            <a:r>
              <a:rPr lang="zh-TW" altLang="en-US" sz="2000" b="1" dirty="0"/>
              <a:t>單與</a:t>
            </a:r>
            <a:r>
              <a:rPr lang="zh-TW" altLang="en-US" sz="2000" b="1" dirty="0">
                <a:solidFill>
                  <a:schemeClr val="accent2"/>
                </a:solidFill>
              </a:rPr>
              <a:t>攜出</a:t>
            </a:r>
            <a:r>
              <a:rPr lang="zh-TW" altLang="en-US" sz="2000" b="1" dirty="0"/>
              <a:t>單（兩單分開</a:t>
            </a:r>
            <a:r>
              <a:rPr lang="zh-TW" altLang="en-US" sz="2000" b="1" dirty="0">
                <a:solidFill>
                  <a:schemeClr val="accent2"/>
                </a:solidFill>
              </a:rPr>
              <a:t>須審核同意</a:t>
            </a:r>
            <a:r>
              <a:rPr lang="zh-TW" altLang="en-US" sz="2000" b="1" dirty="0">
                <a:solidFill>
                  <a:schemeClr val="tx2"/>
                </a:solidFill>
              </a:rPr>
              <a:t>，</a:t>
            </a:r>
            <a:r>
              <a:rPr lang="zh-TW" altLang="en-US" sz="2000" b="1" dirty="0"/>
              <a:t>要提早申請）</a:t>
            </a:r>
            <a:endParaRPr lang="en-US" altLang="zh-TW" sz="2000" b="1" dirty="0"/>
          </a:p>
          <a:p>
            <a:r>
              <a:rPr lang="zh-TW" altLang="en-US" sz="2000" b="1" dirty="0"/>
              <a:t>物料進場提早通知高信</a:t>
            </a:r>
            <a:r>
              <a:rPr lang="zh-TW" altLang="en-US" sz="2000" b="1" dirty="0">
                <a:solidFill>
                  <a:schemeClr val="accent2"/>
                </a:solidFill>
              </a:rPr>
              <a:t>監工</a:t>
            </a:r>
            <a:r>
              <a:rPr lang="zh-TW" altLang="en-US" sz="2000" b="1" dirty="0"/>
              <a:t>（現場監看）、</a:t>
            </a:r>
            <a:r>
              <a:rPr lang="zh-TW" altLang="en-US" sz="2000" b="1" dirty="0">
                <a:solidFill>
                  <a:schemeClr val="accent2"/>
                </a:solidFill>
              </a:rPr>
              <a:t>公安</a:t>
            </a:r>
            <a:r>
              <a:rPr lang="zh-TW" altLang="en-US" sz="2000" b="1" dirty="0"/>
              <a:t>（現場監看）、</a:t>
            </a:r>
            <a:r>
              <a:rPr lang="zh-TW" altLang="en-US" sz="2000" b="1" dirty="0">
                <a:solidFill>
                  <a:schemeClr val="accent2"/>
                </a:solidFill>
              </a:rPr>
              <a:t>品管</a:t>
            </a:r>
            <a:r>
              <a:rPr lang="zh-TW" altLang="en-US" sz="2000" b="1" dirty="0"/>
              <a:t>（準備驗料）</a:t>
            </a:r>
            <a:endParaRPr lang="en-US" altLang="zh-TW" sz="2000" b="1" dirty="0"/>
          </a:p>
          <a:p>
            <a:r>
              <a:rPr lang="zh-TW" altLang="en-US" sz="2000" b="1" dirty="0">
                <a:solidFill>
                  <a:schemeClr val="accent2"/>
                </a:solidFill>
              </a:rPr>
              <a:t>車載物料進場</a:t>
            </a:r>
            <a:r>
              <a:rPr lang="zh-TW" altLang="en-US" sz="2000" b="1" dirty="0"/>
              <a:t>需提早打單，填寫</a:t>
            </a:r>
            <a:r>
              <a:rPr lang="zh-TW" altLang="en-US" sz="2000" b="1" dirty="0">
                <a:solidFill>
                  <a:schemeClr val="accent2"/>
                </a:solidFill>
              </a:rPr>
              <a:t>司機姓名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zh-TW" altLang="en-US" sz="2000" b="1" dirty="0">
                <a:solidFill>
                  <a:schemeClr val="accent2"/>
                </a:solidFill>
              </a:rPr>
              <a:t>電話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zh-TW" altLang="en-US" sz="2000" b="1" dirty="0">
                <a:solidFill>
                  <a:schemeClr val="accent2"/>
                </a:solidFill>
              </a:rPr>
              <a:t>車牌</a:t>
            </a:r>
            <a:r>
              <a:rPr lang="zh-TW" altLang="en-US" sz="2000" b="1" dirty="0">
                <a:solidFill>
                  <a:schemeClr val="tx2"/>
                </a:solidFill>
              </a:rPr>
              <a:t>、</a:t>
            </a:r>
            <a:r>
              <a:rPr lang="zh-TW" altLang="en-US" sz="2000" b="1" dirty="0"/>
              <a:t>載運之</a:t>
            </a:r>
            <a:r>
              <a:rPr lang="zh-TW" altLang="en-US" sz="2000" b="1" dirty="0">
                <a:solidFill>
                  <a:schemeClr val="accent2"/>
                </a:solidFill>
              </a:rPr>
              <a:t>物料</a:t>
            </a:r>
            <a:r>
              <a:rPr lang="zh-TW" altLang="en-US" sz="2000" b="1" dirty="0">
                <a:solidFill>
                  <a:schemeClr val="tx2"/>
                </a:solidFill>
              </a:rPr>
              <a:t>，</a:t>
            </a:r>
            <a:r>
              <a:rPr lang="zh-TW" altLang="en-US" sz="2000" b="1" dirty="0"/>
              <a:t>司機攜帶進料單開</a:t>
            </a:r>
            <a:endParaRPr lang="en-US" altLang="zh-TW" sz="2000" b="1" dirty="0"/>
          </a:p>
          <a:p>
            <a:pPr marL="0" indent="0">
              <a:buNone/>
            </a:pPr>
            <a:r>
              <a:rPr lang="zh-TW" altLang="en-US" sz="2000" b="1" dirty="0"/>
              <a:t>    往西二哨（引導人員持白卡進場後，於</a:t>
            </a:r>
            <a:r>
              <a:rPr lang="zh-TW" altLang="en-US" sz="2000" b="1" dirty="0">
                <a:solidFill>
                  <a:schemeClr val="accent2"/>
                </a:solidFill>
              </a:rPr>
              <a:t>西二哨</a:t>
            </a:r>
            <a:r>
              <a:rPr lang="zh-TW" altLang="en-US" sz="2000" b="1" dirty="0"/>
              <a:t>等待車輛，驗單後陪同進場並於</a:t>
            </a:r>
            <a:r>
              <a:rPr lang="zh-TW" altLang="en-US" sz="2000" b="1" dirty="0">
                <a:solidFill>
                  <a:schemeClr val="accent2"/>
                </a:solidFill>
              </a:rPr>
              <a:t>車輛進出與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    轉彎時引導</a:t>
            </a:r>
            <a:r>
              <a:rPr lang="zh-TW" altLang="en-US" sz="2000" b="1" dirty="0"/>
              <a:t>車輛）</a:t>
            </a:r>
            <a:endParaRPr lang="en-US" altLang="zh-TW" sz="2000" b="1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CAFBF5FD-FAED-0ADC-496B-5CA822C29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 dirty="0">
                <a:solidFill>
                  <a:schemeClr val="bg2"/>
                </a:solidFill>
              </a:rPr>
              <a:t>O</a:t>
            </a:r>
            <a:r>
              <a:rPr lang="zh-TW" altLang="en-US" sz="2600" b="1" dirty="0">
                <a:solidFill>
                  <a:schemeClr val="bg2"/>
                </a:solidFill>
              </a:rPr>
              <a:t>棟太陽能注意事項</a:t>
            </a:r>
          </a:p>
        </p:txBody>
      </p:sp>
    </p:spTree>
    <p:extLst>
      <p:ext uri="{BB962C8B-B14F-4D97-AF65-F5344CB8AC3E}">
        <p14:creationId xmlns:p14="http://schemas.microsoft.com/office/powerpoint/2010/main" val="32153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19CC-F47F-6AA8-85F4-4525A7C5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599A7E8-12E7-ADE3-6467-0B5BEC41A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751422" cy="4449872"/>
          </a:xfrm>
        </p:spPr>
        <p:txBody>
          <a:bodyPr>
            <a:noAutofit/>
          </a:bodyPr>
          <a:lstStyle/>
          <a:p>
            <a:r>
              <a:rPr lang="en-US" altLang="zh-TW" sz="2000" b="1" dirty="0"/>
              <a:t>6</a:t>
            </a:r>
            <a:r>
              <a:rPr lang="zh-TW" altLang="en-US" sz="2000" b="1" dirty="0"/>
              <a:t> 水泥墩座測試分別為南北向各 </a:t>
            </a:r>
            <a:r>
              <a:rPr lang="en-US" altLang="zh-TW" sz="2000" b="1" dirty="0"/>
              <a:t>2</a:t>
            </a:r>
            <a:r>
              <a:rPr lang="zh-TW" altLang="en-US" sz="2000" b="1" dirty="0"/>
              <a:t> 座</a:t>
            </a:r>
          </a:p>
          <a:p>
            <a:r>
              <a:rPr lang="zh-TW" altLang="en-US" sz="2000" b="1" dirty="0"/>
              <a:t>最南端洩水坡度最底端，墩座較高 </a:t>
            </a:r>
            <a:r>
              <a:rPr lang="en-US" altLang="zh-TW" sz="2000" b="1" dirty="0"/>
              <a:t>2</a:t>
            </a:r>
            <a:r>
              <a:rPr lang="zh-TW" altLang="en-US" sz="2000" b="1" dirty="0"/>
              <a:t> 座各鑽 </a:t>
            </a:r>
            <a:r>
              <a:rPr lang="en-US" altLang="zh-TW" sz="2000" b="1" dirty="0"/>
              <a:t>4</a:t>
            </a:r>
            <a:r>
              <a:rPr lang="zh-TW" altLang="en-US" sz="2000" b="1" dirty="0"/>
              <a:t> 孔皆可達要求深度 </a:t>
            </a:r>
            <a:r>
              <a:rPr lang="en-US" altLang="zh-TW" sz="2000" b="1" dirty="0"/>
              <a:t>11cm</a:t>
            </a:r>
          </a:p>
          <a:p>
            <a:r>
              <a:rPr lang="zh-TW" altLang="en-US" sz="2000" b="1" dirty="0"/>
              <a:t>於中間墩座 </a:t>
            </a:r>
            <a:r>
              <a:rPr lang="en-US" altLang="zh-TW" sz="2000" b="1" dirty="0"/>
              <a:t>2</a:t>
            </a:r>
            <a:r>
              <a:rPr lang="zh-TW" altLang="en-US" sz="2000" b="1" dirty="0"/>
              <a:t> 座各 </a:t>
            </a:r>
            <a:r>
              <a:rPr lang="en-US" altLang="zh-TW" sz="2000" b="1" dirty="0"/>
              <a:t>4</a:t>
            </a:r>
            <a:r>
              <a:rPr lang="zh-TW" altLang="en-US" sz="2000" b="1" dirty="0"/>
              <a:t> 孔有只有 </a:t>
            </a:r>
            <a:r>
              <a:rPr lang="en-US" altLang="zh-TW" sz="2000" b="1" dirty="0"/>
              <a:t>1</a:t>
            </a:r>
            <a:r>
              <a:rPr lang="zh-TW" altLang="en-US" sz="2000" b="1" dirty="0"/>
              <a:t> 孔鑽到鋼筋（深度 </a:t>
            </a:r>
            <a:r>
              <a:rPr lang="en-US" altLang="zh-TW" sz="2000" b="1" dirty="0"/>
              <a:t>5cm</a:t>
            </a:r>
            <a:r>
              <a:rPr lang="zh-TW" altLang="en-US" sz="2000" b="1" dirty="0"/>
              <a:t>）</a:t>
            </a:r>
            <a:r>
              <a:rPr lang="en-US" altLang="zh-TW" sz="2000" b="1" dirty="0"/>
              <a:t>1/8 </a:t>
            </a:r>
            <a:r>
              <a:rPr lang="zh-TW" altLang="en-US" sz="2000" b="1" dirty="0"/>
              <a:t>機率</a:t>
            </a:r>
          </a:p>
          <a:p>
            <a:r>
              <a:rPr lang="zh-TW" altLang="en-US" sz="2000" b="1" dirty="0"/>
              <a:t>於北端（矮墩座）</a:t>
            </a:r>
            <a:r>
              <a:rPr lang="en-US" altLang="zh-TW" sz="2000" b="1" dirty="0"/>
              <a:t>2</a:t>
            </a:r>
            <a:r>
              <a:rPr lang="zh-TW" altLang="en-US" sz="2000" b="1" dirty="0"/>
              <a:t> 座各鑽 </a:t>
            </a:r>
            <a:r>
              <a:rPr lang="en-US" altLang="zh-TW" sz="2000" b="1" dirty="0"/>
              <a:t>4</a:t>
            </a:r>
            <a:r>
              <a:rPr lang="zh-TW" altLang="en-US" sz="2000" b="1" dirty="0"/>
              <a:t> 孔有 </a:t>
            </a:r>
            <a:r>
              <a:rPr lang="en-US" altLang="zh-TW" sz="2000" b="1" dirty="0"/>
              <a:t>3</a:t>
            </a:r>
            <a:r>
              <a:rPr lang="zh-TW" altLang="en-US" sz="2000" b="1" dirty="0"/>
              <a:t> 孔鑽到鋼筋（深度 </a:t>
            </a:r>
            <a:r>
              <a:rPr lang="en-US" altLang="zh-TW" sz="2000" b="1" dirty="0"/>
              <a:t>5cm</a:t>
            </a:r>
            <a:r>
              <a:rPr lang="zh-TW" altLang="en-US" sz="2000" b="1" dirty="0"/>
              <a:t>）</a:t>
            </a:r>
            <a:r>
              <a:rPr lang="en-US" altLang="zh-TW" sz="2000" b="1" dirty="0"/>
              <a:t>3/4 </a:t>
            </a:r>
            <a:r>
              <a:rPr lang="zh-TW" altLang="en-US" sz="2000" b="1" dirty="0"/>
              <a:t>機率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CB5FAB7D-1CBC-F150-1DD7-E7727945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 dirty="0">
                <a:solidFill>
                  <a:schemeClr val="bg2"/>
                </a:solidFill>
              </a:rPr>
              <a:t>8/27</a:t>
            </a:r>
            <a:r>
              <a:rPr lang="zh-TW" altLang="en-US" sz="2600" b="1" dirty="0">
                <a:solidFill>
                  <a:schemeClr val="bg2"/>
                </a:solidFill>
              </a:rPr>
              <a:t> </a:t>
            </a:r>
            <a:r>
              <a:rPr lang="en-US" altLang="zh-TW" sz="2600" b="1" dirty="0">
                <a:solidFill>
                  <a:schemeClr val="bg2"/>
                </a:solidFill>
              </a:rPr>
              <a:t>O</a:t>
            </a:r>
            <a:r>
              <a:rPr lang="zh-TW" altLang="en-US" sz="2600" b="1" dirty="0">
                <a:solidFill>
                  <a:schemeClr val="bg2"/>
                </a:solidFill>
              </a:rPr>
              <a:t>棟試鑽孔植筋深度測試</a:t>
            </a:r>
          </a:p>
        </p:txBody>
      </p:sp>
    </p:spTree>
    <p:extLst>
      <p:ext uri="{BB962C8B-B14F-4D97-AF65-F5344CB8AC3E}">
        <p14:creationId xmlns:p14="http://schemas.microsoft.com/office/powerpoint/2010/main" val="406942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B9C0CEF6-DF08-428B-42CC-F9E1BC62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9459" name="內容版面配置區 4">
            <a:extLst>
              <a:ext uri="{FF2B5EF4-FFF2-40B4-BE49-F238E27FC236}">
                <a16:creationId xmlns:a16="http://schemas.microsoft.com/office/drawing/2014/main" id="{073B1F68-1D49-DB10-0EB1-E97F114998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7C5F03D2-DDF4-982B-783E-130E89BD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483" name="內容版面配置區 4">
            <a:extLst>
              <a:ext uri="{FF2B5EF4-FFF2-40B4-BE49-F238E27FC236}">
                <a16:creationId xmlns:a16="http://schemas.microsoft.com/office/drawing/2014/main" id="{8AC7D7B1-E236-C6CA-BD74-3C58821D5E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0215-33A6-9C18-4F2E-C5927E9F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FFCDB3-D4F1-F77F-7453-B75037DD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支架組裝 </a:t>
            </a:r>
            <a:r>
              <a:rPr lang="en-US" altLang="zh-TW" sz="2000" b="1" dirty="0"/>
              <a:t>26%</a:t>
            </a:r>
            <a:r>
              <a:rPr lang="zh-TW" altLang="en-US" sz="2000" b="1" dirty="0"/>
              <a:t>（鋼構鏽點除鏽、清潔、上高鋅漆兩層 完成 </a:t>
            </a:r>
            <a:r>
              <a:rPr lang="en-US" altLang="zh-TW" sz="2000" b="1" dirty="0"/>
              <a:t>50%</a:t>
            </a:r>
            <a:r>
              <a:rPr lang="zh-TW" altLang="en-US" sz="2000" b="1" dirty="0"/>
              <a:t>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模組安裝 </a:t>
            </a:r>
            <a:r>
              <a:rPr lang="en-US" altLang="zh-TW" sz="2000" b="1" dirty="0"/>
              <a:t>15%</a:t>
            </a:r>
            <a:r>
              <a:rPr lang="zh-TW" altLang="en-US" sz="2000" b="1" dirty="0"/>
              <a:t>（模組板上棚架 </a:t>
            </a:r>
            <a:r>
              <a:rPr lang="en-US" altLang="zh-TW" sz="2000" b="1" dirty="0"/>
              <a:t>40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/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414</a:t>
            </a:r>
            <a:r>
              <a:rPr lang="zh-TW" altLang="en-US" sz="2000" b="1" dirty="0"/>
              <a:t>、模組螺絲定磅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、吊掛進料完成）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變流器安裝 </a:t>
            </a:r>
            <a:r>
              <a:rPr lang="en-US" altLang="zh-TW" sz="2000" b="1" dirty="0"/>
              <a:t>90%</a:t>
            </a:r>
            <a:r>
              <a:rPr lang="zh-TW" altLang="en-US" sz="2000" b="1" dirty="0"/>
              <a:t>（安裝固定完成尚未結線測試）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儲能櫃安裝 </a:t>
            </a:r>
            <a:r>
              <a:rPr lang="en-US" altLang="zh-TW" sz="2000" b="1" dirty="0"/>
              <a:t>10%</a:t>
            </a:r>
          </a:p>
          <a:p>
            <a:pPr marL="0" indent="0">
              <a:buNone/>
            </a:pPr>
            <a:r>
              <a:rPr lang="zh-TW" altLang="en-US" sz="2000" b="1" dirty="0"/>
              <a:t>       （吊掛進料完成、監控拉線測試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、電纜接線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、充放電測試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）</a:t>
            </a:r>
            <a:endParaRPr lang="en-US" altLang="zh-TW" sz="2000" b="1" dirty="0"/>
          </a:p>
          <a:p>
            <a:pPr marL="457200" indent="-457200">
              <a:spcBef>
                <a:spcPts val="500"/>
              </a:spcBef>
              <a:buFont typeface="+mj-lt"/>
              <a:buAutoNum type="arabicPeriod" startAt="2"/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追蹤後續監控螢幕、</a:t>
            </a:r>
            <a:r>
              <a:rPr lang="en-US" altLang="zh-TW" sz="2000" b="1" dirty="0"/>
              <a:t>AC</a:t>
            </a:r>
            <a:r>
              <a:rPr lang="zh-TW" altLang="en-US" sz="2000" b="1" dirty="0"/>
              <a:t> 盤體 </a:t>
            </a:r>
            <a:r>
              <a:rPr lang="en-US" altLang="zh-TW" sz="2000" b="1" dirty="0"/>
              <a:t>…</a:t>
            </a:r>
            <a:r>
              <a:rPr lang="zh-TW" altLang="en-US" sz="2000" b="1" dirty="0"/>
              <a:t> 等物料進場及施工人員進場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AD1E3EE-06EA-647D-8404-E986455E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88184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AE2C-7421-5743-294D-C949DDCE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875D14-C1BB-A698-D24A-B4FD96D2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模組安裝</a:t>
            </a:r>
          </a:p>
        </p:txBody>
      </p:sp>
      <p:pic>
        <p:nvPicPr>
          <p:cNvPr id="4" name="Picture 35843" descr="image.jpeg">
            <a:extLst>
              <a:ext uri="{FF2B5EF4-FFF2-40B4-BE49-F238E27FC236}">
                <a16:creationId xmlns:a16="http://schemas.microsoft.com/office/drawing/2014/main" id="{90055660-EB7C-4E72-9297-90E31FE1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6430"/>
            <a:ext cx="3013702" cy="2260786"/>
          </a:xfrm>
          <a:prstGeom prst="rect">
            <a:avLst/>
          </a:prstGeom>
        </p:spPr>
      </p:pic>
      <p:pic>
        <p:nvPicPr>
          <p:cNvPr id="9" name="Picture 35844" descr="image.jpeg">
            <a:extLst>
              <a:ext uri="{FF2B5EF4-FFF2-40B4-BE49-F238E27FC236}">
                <a16:creationId xmlns:a16="http://schemas.microsoft.com/office/drawing/2014/main" id="{FFA0C2DC-B9A9-AAF6-6726-78087648F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422" y="3176430"/>
            <a:ext cx="3013702" cy="2260786"/>
          </a:xfrm>
          <a:prstGeom prst="rect">
            <a:avLst/>
          </a:prstGeom>
        </p:spPr>
      </p:pic>
      <p:pic>
        <p:nvPicPr>
          <p:cNvPr id="13" name="Picture 35845" descr="image.jpeg">
            <a:extLst>
              <a:ext uri="{FF2B5EF4-FFF2-40B4-BE49-F238E27FC236}">
                <a16:creationId xmlns:a16="http://schemas.microsoft.com/office/drawing/2014/main" id="{00E0F5AF-3131-D65B-12AF-CB4E61634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844" y="3176430"/>
            <a:ext cx="3013702" cy="2260786"/>
          </a:xfrm>
          <a:prstGeom prst="rect">
            <a:avLst/>
          </a:prstGeom>
        </p:spPr>
      </p:pic>
      <p:pic>
        <p:nvPicPr>
          <p:cNvPr id="15" name="Picture 35846" descr="image.jpeg">
            <a:extLst>
              <a:ext uri="{FF2B5EF4-FFF2-40B4-BE49-F238E27FC236}">
                <a16:creationId xmlns:a16="http://schemas.microsoft.com/office/drawing/2014/main" id="{BD3CB27F-2B55-611C-16A5-327AC4055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267" y="3176430"/>
            <a:ext cx="3013702" cy="22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2879-F96C-5A52-65F0-156BDBBE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CDF41F7-0321-F284-AF33-08ADE5B1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/>
              <a:t>8/25</a:t>
            </a:r>
            <a:r>
              <a:rPr lang="zh-TW" altLang="en-US" sz="2000" b="1" dirty="0"/>
              <a:t> 現場勘查漏水、施工工法及工序建議，內部審核中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875226D-D998-97F4-BB86-49C9CB2E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377064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42F7-CD24-3C7A-B36A-9DABAC53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>
            <a:extLst>
              <a:ext uri="{FF2B5EF4-FFF2-40B4-BE49-F238E27FC236}">
                <a16:creationId xmlns:a16="http://schemas.microsoft.com/office/drawing/2014/main" id="{FA94B3F6-DBFC-AE70-A61F-1305F92492B6}"/>
              </a:ext>
            </a:extLst>
          </p:cNvPr>
          <p:cNvGrpSpPr/>
          <p:nvPr/>
        </p:nvGrpSpPr>
        <p:grpSpPr>
          <a:xfrm>
            <a:off x="530400" y="1818000"/>
            <a:ext cx="11131200" cy="5040000"/>
            <a:chOff x="1016000" y="1787525"/>
            <a:chExt cx="10606088" cy="4800600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F2425013-6C34-386C-B182-0E5D0F46ED52}"/>
                </a:ext>
              </a:extLst>
            </p:cNvPr>
            <p:cNvGrpSpPr/>
            <p:nvPr/>
          </p:nvGrpSpPr>
          <p:grpSpPr>
            <a:xfrm>
              <a:off x="1016000" y="1787525"/>
              <a:ext cx="10606088" cy="4800600"/>
              <a:chOff x="1016000" y="1787525"/>
              <a:chExt cx="10606088" cy="4800600"/>
            </a:xfrm>
          </p:grpSpPr>
          <p:pic>
            <p:nvPicPr>
              <p:cNvPr id="5" name="內容版面配置區 4">
                <a:extLst>
                  <a:ext uri="{FF2B5EF4-FFF2-40B4-BE49-F238E27FC236}">
                    <a16:creationId xmlns:a16="http://schemas.microsoft.com/office/drawing/2014/main" id="{13F43E39-BEC2-225B-6B16-AF3A78FCFE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6000" y="1787525"/>
                <a:ext cx="4806950" cy="4800600"/>
              </a:xfrm>
              <a:prstGeom prst="rect">
                <a:avLst/>
              </a:prstGeom>
            </p:spPr>
          </p:pic>
          <p:sp>
            <p:nvSpPr>
              <p:cNvPr id="7" name="圖說文字: 向左箭號 6">
                <a:extLst>
                  <a:ext uri="{FF2B5EF4-FFF2-40B4-BE49-F238E27FC236}">
                    <a16:creationId xmlns:a16="http://schemas.microsoft.com/office/drawing/2014/main" id="{7D9E6CCB-7E15-BD4B-3FEA-2F859E33CCC7}"/>
                  </a:ext>
                </a:extLst>
              </p:cNvPr>
              <p:cNvSpPr/>
              <p:nvPr/>
            </p:nvSpPr>
            <p:spPr>
              <a:xfrm>
                <a:off x="4498975" y="2852738"/>
                <a:ext cx="6958013" cy="923925"/>
              </a:xfrm>
              <a:prstGeom prst="leftArrowCallo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TW" altLang="en-US" sz="2000" b="1" dirty="0">
                    <a:solidFill>
                      <a:prstClr val="white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機房漏水點</a:t>
                </a:r>
                <a:endParaRPr kumimoji="0" lang="en-US" altLang="zh-TW" sz="2000" b="1" dirty="0">
                  <a:solidFill>
                    <a:prstClr val="white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" name="圖說文字: 向左箭號 7">
                <a:extLst>
                  <a:ext uri="{FF2B5EF4-FFF2-40B4-BE49-F238E27FC236}">
                    <a16:creationId xmlns:a16="http://schemas.microsoft.com/office/drawing/2014/main" id="{AB72503C-58A7-39A1-A338-91D61EAB5277}"/>
                  </a:ext>
                </a:extLst>
              </p:cNvPr>
              <p:cNvSpPr/>
              <p:nvPr/>
            </p:nvSpPr>
            <p:spPr>
              <a:xfrm>
                <a:off x="2862263" y="4443413"/>
                <a:ext cx="8759825" cy="1208087"/>
              </a:xfrm>
              <a:prstGeom prst="leftArrowCallo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zh-TW" altLang="en-US" sz="2000" b="1" dirty="0">
                    <a:solidFill>
                      <a:prstClr val="white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辦公室漏水點</a:t>
                </a:r>
              </a:p>
            </p:txBody>
          </p:sp>
        </p:grp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BBEE09BA-B92C-C2AC-7624-2870480D0CF7}"/>
                </a:ext>
              </a:extLst>
            </p:cNvPr>
            <p:cNvSpPr/>
            <p:nvPr/>
          </p:nvSpPr>
          <p:spPr>
            <a:xfrm>
              <a:off x="4022725" y="3127375"/>
              <a:ext cx="549275" cy="5397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AD0884C2-33A9-D4AD-FB38-B79658E0B186}"/>
                </a:ext>
              </a:extLst>
            </p:cNvPr>
            <p:cNvSpPr/>
            <p:nvPr/>
          </p:nvSpPr>
          <p:spPr>
            <a:xfrm>
              <a:off x="1898650" y="3382963"/>
              <a:ext cx="382588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DEB98596-5266-498A-C9BC-211527908090}"/>
                </a:ext>
              </a:extLst>
            </p:cNvPr>
            <p:cNvSpPr/>
            <p:nvPr/>
          </p:nvSpPr>
          <p:spPr>
            <a:xfrm>
              <a:off x="2363788" y="4646613"/>
              <a:ext cx="384175" cy="36195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278A69FA-9BA1-DD91-7BFF-979106EEABDC}"/>
                </a:ext>
              </a:extLst>
            </p:cNvPr>
            <p:cNvSpPr/>
            <p:nvPr/>
          </p:nvSpPr>
          <p:spPr>
            <a:xfrm>
              <a:off x="2363788" y="4200525"/>
              <a:ext cx="384175" cy="34448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6B6FD01-B922-D2BB-70E4-A3E1C0709EE8}"/>
                </a:ext>
              </a:extLst>
            </p:cNvPr>
            <p:cNvSpPr/>
            <p:nvPr/>
          </p:nvSpPr>
          <p:spPr>
            <a:xfrm>
              <a:off x="2752725" y="5505450"/>
              <a:ext cx="384175" cy="34448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E2E6B17-358F-01CF-3930-20F132B8C2AC}"/>
                </a:ext>
              </a:extLst>
            </p:cNvPr>
            <p:cNvSpPr/>
            <p:nvPr/>
          </p:nvSpPr>
          <p:spPr>
            <a:xfrm>
              <a:off x="2363788" y="3819525"/>
              <a:ext cx="384175" cy="33178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210C399-2EF9-3CD6-71FF-60F1E2D6E7F3}"/>
                </a:ext>
              </a:extLst>
            </p:cNvPr>
            <p:cNvSpPr/>
            <p:nvPr/>
          </p:nvSpPr>
          <p:spPr>
            <a:xfrm>
              <a:off x="1862138" y="3984625"/>
              <a:ext cx="384175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2229453D-A9F8-67D8-1E05-75EC24C8E4C0}"/>
                </a:ext>
              </a:extLst>
            </p:cNvPr>
            <p:cNvSpPr/>
            <p:nvPr/>
          </p:nvSpPr>
          <p:spPr>
            <a:xfrm>
              <a:off x="4022725" y="2541588"/>
              <a:ext cx="384175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D94C9471-3F07-A43C-BE81-AB2BF05A0455}"/>
                </a:ext>
              </a:extLst>
            </p:cNvPr>
            <p:cNvSpPr/>
            <p:nvPr/>
          </p:nvSpPr>
          <p:spPr>
            <a:xfrm>
              <a:off x="1862138" y="4545013"/>
              <a:ext cx="384175" cy="3952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AF274FB-C12D-AFBE-855B-6E1815EBDA81}"/>
                </a:ext>
              </a:extLst>
            </p:cNvPr>
            <p:cNvSpPr/>
            <p:nvPr/>
          </p:nvSpPr>
          <p:spPr>
            <a:xfrm>
              <a:off x="1306513" y="3819525"/>
              <a:ext cx="384175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CF620CFB-58B1-B9A6-44AE-5E99965DE43F}"/>
                </a:ext>
              </a:extLst>
            </p:cNvPr>
            <p:cNvSpPr/>
            <p:nvPr/>
          </p:nvSpPr>
          <p:spPr>
            <a:xfrm>
              <a:off x="1360488" y="4376738"/>
              <a:ext cx="384175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43EB37A3-57C7-2084-5F5B-2AE758A29381}"/>
                </a:ext>
              </a:extLst>
            </p:cNvPr>
            <p:cNvSpPr/>
            <p:nvPr/>
          </p:nvSpPr>
          <p:spPr>
            <a:xfrm>
              <a:off x="4406900" y="2725738"/>
              <a:ext cx="384175" cy="3937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05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0072-B419-F3FB-45CD-DB633380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B9B9FF15-01C0-7A8B-0E2B-75548684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工法比較＆工序</a:t>
            </a:r>
          </a:p>
        </p:txBody>
      </p:sp>
      <p:graphicFrame>
        <p:nvGraphicFramePr>
          <p:cNvPr id="2" name="內容版面配置區 3">
            <a:extLst>
              <a:ext uri="{FF2B5EF4-FFF2-40B4-BE49-F238E27FC236}">
                <a16:creationId xmlns:a16="http://schemas.microsoft.com/office/drawing/2014/main" id="{4F7AC7D1-7376-8D97-2990-6E08BF0E34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636665"/>
              </p:ext>
            </p:extLst>
          </p:nvPr>
        </p:nvGraphicFramePr>
        <p:xfrm>
          <a:off x="1359746" y="2255565"/>
          <a:ext cx="9472507" cy="198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工法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比較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工時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費用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防水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耐候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施工難易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物料取得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總結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拆模組打膠填縫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優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劣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拆模組貼防水膜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優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劣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V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Microsoft Himalaya" panose="01010100010101010101" pitchFamily="2" charset="0"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64A7ED1-C99B-60BB-7CBB-BA4518E34F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5359033"/>
              </p:ext>
            </p:extLst>
          </p:nvPr>
        </p:nvGraphicFramePr>
        <p:xfrm>
          <a:off x="1359746" y="4510995"/>
          <a:ext cx="829691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工序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5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斷電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解接地串聯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拆模組（</a:t>
                      </a:r>
                      <a:r>
                        <a:rPr lang="en-US" altLang="zh-TW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77</a:t>
                      </a:r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解</a:t>
                      </a:r>
                      <a:r>
                        <a:rPr lang="en-US" altLang="zh-TW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DC</a:t>
                      </a:r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串聯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2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拆支撐架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16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防水施工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測漏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反順序回裝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接地測試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復電測試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?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29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altLang="en-US" sz="20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21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E1CE-E971-164F-79AC-12F74E6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AAF4213-7FA8-F509-5DB5-EA5CE4C6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8ADBE2B-7991-4C61-4FFC-87F4B680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solidFill>
                  <a:schemeClr val="accent2"/>
                </a:solidFill>
              </a:rPr>
              <a:t>F</a:t>
            </a:r>
            <a:r>
              <a:rPr lang="zh-TW" altLang="en-US" sz="2000" b="1" dirty="0">
                <a:solidFill>
                  <a:schemeClr val="accent2"/>
                </a:solidFill>
              </a:rPr>
              <a:t> 區配管進度 </a:t>
            </a:r>
            <a:r>
              <a:rPr lang="en-US" altLang="zh-TW" sz="2000" b="1" dirty="0">
                <a:solidFill>
                  <a:schemeClr val="accent2"/>
                </a:solidFill>
              </a:rPr>
              <a:t>100%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拉線進度 </a:t>
            </a:r>
            <a:r>
              <a:rPr lang="en-US" altLang="zh-TW" sz="2000" b="1" dirty="0">
                <a:solidFill>
                  <a:schemeClr val="accent2"/>
                </a:solidFill>
              </a:rPr>
              <a:t>88%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絕緣導通測試 </a:t>
            </a:r>
            <a:r>
              <a:rPr lang="en-US" altLang="zh-TW" sz="2000" b="1" dirty="0">
                <a:solidFill>
                  <a:schemeClr val="accent2"/>
                </a:solidFill>
              </a:rPr>
              <a:t>70%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儀表安裝 </a:t>
            </a:r>
            <a:r>
              <a:rPr lang="en-US" altLang="zh-TW" sz="2000" b="1" dirty="0">
                <a:solidFill>
                  <a:schemeClr val="accent2"/>
                </a:solidFill>
              </a:rPr>
              <a:t>80%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儀表結線 </a:t>
            </a:r>
            <a:r>
              <a:rPr lang="en-US" altLang="zh-TW" sz="2000" b="1" dirty="0">
                <a:solidFill>
                  <a:schemeClr val="accent2"/>
                </a:solidFill>
              </a:rPr>
              <a:t>57%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tx2"/>
                </a:solidFill>
              </a:rPr>
              <a:t>總進度 </a:t>
            </a:r>
            <a:r>
              <a:rPr lang="en-US" altLang="zh-TW" sz="2000" b="1" dirty="0">
                <a:solidFill>
                  <a:schemeClr val="tx2"/>
                </a:solidFill>
              </a:rPr>
              <a:t>86.3%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tx2"/>
                </a:solidFill>
              </a:rPr>
              <a:t>案場協調項目：無法安裝清單已回復業主，待安排修改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dirty="0">
                <a:solidFill>
                  <a:schemeClr val="tx2"/>
                </a:solidFill>
              </a:rPr>
              <a:t>F </a:t>
            </a:r>
            <a:r>
              <a:rPr lang="zh-TW" altLang="en-US" sz="2000" b="1" dirty="0">
                <a:solidFill>
                  <a:schemeClr val="tx2"/>
                </a:solidFill>
              </a:rPr>
              <a:t>區主管路尺寸不合更改，</a:t>
            </a:r>
            <a:r>
              <a:rPr lang="en-US" altLang="zh-TW" sz="2000" b="1" dirty="0">
                <a:solidFill>
                  <a:schemeClr val="tx2"/>
                </a:solidFill>
              </a:rPr>
              <a:t>TIT </a:t>
            </a:r>
            <a:r>
              <a:rPr lang="zh-TW" altLang="en-US" sz="2000" b="1" dirty="0">
                <a:solidFill>
                  <a:schemeClr val="tx2"/>
                </a:solidFill>
              </a:rPr>
              <a:t>儀表拆除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chemeClr val="tx2"/>
                </a:solidFill>
              </a:rPr>
              <a:t>於 </a:t>
            </a:r>
            <a:r>
              <a:rPr lang="en-US" altLang="zh-TW" sz="2000" b="1" dirty="0">
                <a:solidFill>
                  <a:schemeClr val="tx2"/>
                </a:solidFill>
              </a:rPr>
              <a:t>113 </a:t>
            </a:r>
            <a:r>
              <a:rPr lang="zh-TW" altLang="en-US" sz="2000" b="1" dirty="0">
                <a:solidFill>
                  <a:schemeClr val="tx2"/>
                </a:solidFill>
              </a:rPr>
              <a:t>顆儀錶待安裝（含 </a:t>
            </a:r>
            <a:r>
              <a:rPr lang="en-US" altLang="zh-TW" sz="2000" b="1" dirty="0">
                <a:solidFill>
                  <a:schemeClr val="tx2"/>
                </a:solidFill>
              </a:rPr>
              <a:t>83 </a:t>
            </a:r>
            <a:r>
              <a:rPr lang="zh-TW" altLang="en-US" sz="2000" b="1" dirty="0">
                <a:solidFill>
                  <a:schemeClr val="tx2"/>
                </a:solidFill>
              </a:rPr>
              <a:t>顆無法安裝須改管路）</a:t>
            </a:r>
            <a:endParaRPr lang="en-US" altLang="zh-TW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9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5B530EA7-7EB0-722A-F2CA-8D377564F3EB}"/>
              </a:ext>
            </a:extLst>
          </p:cNvPr>
          <p:cNvGrpSpPr/>
          <p:nvPr/>
        </p:nvGrpSpPr>
        <p:grpSpPr>
          <a:xfrm>
            <a:off x="1" y="2711537"/>
            <a:ext cx="5760000" cy="3240000"/>
            <a:chOff x="-2012950" y="1920875"/>
            <a:chExt cx="7764463" cy="4681538"/>
          </a:xfrm>
        </p:grpSpPr>
        <p:pic>
          <p:nvPicPr>
            <p:cNvPr id="4" name="圖片 4">
              <a:extLst>
                <a:ext uri="{FF2B5EF4-FFF2-40B4-BE49-F238E27FC236}">
                  <a16:creationId xmlns:a16="http://schemas.microsoft.com/office/drawing/2014/main" id="{2EDF35B8-0844-2A1B-DDE1-FC915C8F7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52625" y="1920875"/>
              <a:ext cx="7650163" cy="4681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886C396-F9B9-AE56-46C6-B7386ACB7C41}"/>
                </a:ext>
              </a:extLst>
            </p:cNvPr>
            <p:cNvSpPr/>
            <p:nvPr/>
          </p:nvSpPr>
          <p:spPr>
            <a:xfrm>
              <a:off x="-2012950" y="3597275"/>
              <a:ext cx="7764463" cy="1766888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/>
            </a:p>
          </p:txBody>
        </p:sp>
      </p:grp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D7C86D91-0D41-A79B-FE31-119B4DCAA798}"/>
              </a:ext>
            </a:extLst>
          </p:cNvPr>
          <p:cNvSpPr/>
          <p:nvPr/>
        </p:nvSpPr>
        <p:spPr>
          <a:xfrm rot="10800000">
            <a:off x="5826000" y="4249154"/>
            <a:ext cx="540000" cy="468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5935724B-FF60-A986-4280-64C90930DDE1}"/>
              </a:ext>
            </a:extLst>
          </p:cNvPr>
          <p:cNvGrpSpPr/>
          <p:nvPr/>
        </p:nvGrpSpPr>
        <p:grpSpPr>
          <a:xfrm>
            <a:off x="6432000" y="1828456"/>
            <a:ext cx="5760000" cy="5029544"/>
            <a:chOff x="6432000" y="1828456"/>
            <a:chExt cx="5760000" cy="5029544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5416B933-8249-FF63-C954-A15E21167088}"/>
                </a:ext>
              </a:extLst>
            </p:cNvPr>
            <p:cNvGrpSpPr/>
            <p:nvPr/>
          </p:nvGrpSpPr>
          <p:grpSpPr>
            <a:xfrm>
              <a:off x="6432000" y="6142037"/>
              <a:ext cx="5760000" cy="715963"/>
              <a:chOff x="6359525" y="5851525"/>
              <a:chExt cx="6096000" cy="715963"/>
            </a:xfrm>
          </p:grpSpPr>
          <p:pic>
            <p:nvPicPr>
              <p:cNvPr id="15" name="圖片 10">
                <a:extLst>
                  <a:ext uri="{FF2B5EF4-FFF2-40B4-BE49-F238E27FC236}">
                    <a16:creationId xmlns:a16="http://schemas.microsoft.com/office/drawing/2014/main" id="{E93E6AB0-18AA-73D8-DC2D-F1AF5D58C6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59525" y="5851525"/>
                <a:ext cx="2397125" cy="715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圖片 12">
                <a:extLst>
                  <a:ext uri="{FF2B5EF4-FFF2-40B4-BE49-F238E27FC236}">
                    <a16:creationId xmlns:a16="http://schemas.microsoft.com/office/drawing/2014/main" id="{21DD0854-D580-FD12-523A-8A1758765C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6650" y="5851525"/>
                <a:ext cx="3698875" cy="715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3" name="圖片 8">
              <a:extLst>
                <a:ext uri="{FF2B5EF4-FFF2-40B4-BE49-F238E27FC236}">
                  <a16:creationId xmlns:a16="http://schemas.microsoft.com/office/drawing/2014/main" id="{A777EC15-CCA1-909B-95E8-7FB606096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2000" y="1828456"/>
              <a:ext cx="5760000" cy="4313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DDAF1F4-6B2A-5F9B-267D-74FFE849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5" name="Picture 20485" descr="image.jpg">
            <a:extLst>
              <a:ext uri="{FF2B5EF4-FFF2-40B4-BE49-F238E27FC236}">
                <a16:creationId xmlns:a16="http://schemas.microsoft.com/office/drawing/2014/main" id="{DF3799E1-1185-17EF-606A-6CF0BADEE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43" y="1828800"/>
            <a:ext cx="2873514" cy="2155622"/>
          </a:xfrm>
          <a:prstGeom prst="rect">
            <a:avLst/>
          </a:prstGeom>
        </p:spPr>
      </p:pic>
      <p:pic>
        <p:nvPicPr>
          <p:cNvPr id="8" name="Picture 20486" descr="image.jpg">
            <a:extLst>
              <a:ext uri="{FF2B5EF4-FFF2-40B4-BE49-F238E27FC236}">
                <a16:creationId xmlns:a16="http://schemas.microsoft.com/office/drawing/2014/main" id="{52317F1B-FC94-BEBF-FAC6-548D74536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678" y="1828800"/>
            <a:ext cx="1617081" cy="2155622"/>
          </a:xfrm>
          <a:prstGeom prst="rect">
            <a:avLst/>
          </a:prstGeom>
        </p:spPr>
      </p:pic>
      <p:pic>
        <p:nvPicPr>
          <p:cNvPr id="10" name="Picture 20487" descr="image.jpg">
            <a:extLst>
              <a:ext uri="{FF2B5EF4-FFF2-40B4-BE49-F238E27FC236}">
                <a16:creationId xmlns:a16="http://schemas.microsoft.com/office/drawing/2014/main" id="{D5325B17-6E8E-BA6C-536D-3BB14B84B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157" y="4030142"/>
            <a:ext cx="3695967" cy="2772601"/>
          </a:xfrm>
          <a:prstGeom prst="rect">
            <a:avLst/>
          </a:prstGeom>
        </p:spPr>
      </p:pic>
      <p:pic>
        <p:nvPicPr>
          <p:cNvPr id="13" name="Picture 20488" descr="image.jpg">
            <a:extLst>
              <a:ext uri="{FF2B5EF4-FFF2-40B4-BE49-F238E27FC236}">
                <a16:creationId xmlns:a16="http://schemas.microsoft.com/office/drawing/2014/main" id="{90B20449-DD2C-206B-17A4-534160298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844" y="4030142"/>
            <a:ext cx="3695967" cy="2772601"/>
          </a:xfrm>
          <a:prstGeom prst="rect">
            <a:avLst/>
          </a:prstGeom>
        </p:spPr>
      </p:pic>
      <p:pic>
        <p:nvPicPr>
          <p:cNvPr id="16" name="Picture 20484" descr="image.jpg">
            <a:extLst>
              <a:ext uri="{FF2B5EF4-FFF2-40B4-BE49-F238E27FC236}">
                <a16:creationId xmlns:a16="http://schemas.microsoft.com/office/drawing/2014/main" id="{B02AF899-66FA-D545-F27C-AC277EF110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209" y="1828800"/>
            <a:ext cx="2873514" cy="2155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F731-6E68-D353-D89B-DD3B1663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925AF9F-090F-FE1D-3ABE-EF9E9CCE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5" name="Picture 22532" descr="image.jpg">
            <a:extLst>
              <a:ext uri="{FF2B5EF4-FFF2-40B4-BE49-F238E27FC236}">
                <a16:creationId xmlns:a16="http://schemas.microsoft.com/office/drawing/2014/main" id="{A528F9D0-1451-C4A5-5A9E-CF0F682E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8" name="Picture 22533" descr="image.jpg">
            <a:extLst>
              <a:ext uri="{FF2B5EF4-FFF2-40B4-BE49-F238E27FC236}">
                <a16:creationId xmlns:a16="http://schemas.microsoft.com/office/drawing/2014/main" id="{E7927F6F-6AED-67C8-5DDE-DBD55ED52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1" name="Picture 22534" descr="image.jpg">
            <a:extLst>
              <a:ext uri="{FF2B5EF4-FFF2-40B4-BE49-F238E27FC236}">
                <a16:creationId xmlns:a16="http://schemas.microsoft.com/office/drawing/2014/main" id="{E00AFB10-7A0A-653A-97AD-8EF5F447B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4" name="Picture 22535" descr="image.jpg">
            <a:extLst>
              <a:ext uri="{FF2B5EF4-FFF2-40B4-BE49-F238E27FC236}">
                <a16:creationId xmlns:a16="http://schemas.microsoft.com/office/drawing/2014/main" id="{AE335932-AE2F-63D0-35C3-499646D58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6" name="Picture 22536" descr="image.jpg">
            <a:extLst>
              <a:ext uri="{FF2B5EF4-FFF2-40B4-BE49-F238E27FC236}">
                <a16:creationId xmlns:a16="http://schemas.microsoft.com/office/drawing/2014/main" id="{CC6056AD-52E6-CE7E-8BB3-A8B8A17CD2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18" name="Picture 22537" descr="image.jpg">
            <a:extLst>
              <a:ext uri="{FF2B5EF4-FFF2-40B4-BE49-F238E27FC236}">
                <a16:creationId xmlns:a16="http://schemas.microsoft.com/office/drawing/2014/main" id="{97C19B90-D7BD-9B9E-5AB6-9081CF28FD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8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22926</TotalTime>
  <Words>766</Words>
  <Application>Microsoft Office PowerPoint</Application>
  <PresentationFormat>寬螢幕</PresentationFormat>
  <Paragraphs>111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 UI</vt:lpstr>
      <vt:lpstr>微軟正黑體</vt:lpstr>
      <vt:lpstr>Wingdings</vt:lpstr>
      <vt:lpstr>教育類主題 16x9</vt:lpstr>
      <vt:lpstr>PowerPoint 簡報</vt:lpstr>
      <vt:lpstr>台積電 AP7－其民</vt:lpstr>
      <vt:lpstr>O棟太陽能注意事項</vt:lpstr>
      <vt:lpstr>8/27 O棟試鑽孔植筋深度測試</vt:lpstr>
      <vt:lpstr>PowerPoint 簡報</vt:lpstr>
      <vt:lpstr>PowerPoint 簡報</vt:lpstr>
      <vt:lpstr>兆豐銀行－宏明</vt:lpstr>
      <vt:lpstr>模組安裝</vt:lpstr>
      <vt:lpstr>台以八翁－宏明</vt:lpstr>
      <vt:lpstr>PowerPoint 簡報</vt:lpstr>
      <vt:lpstr>工法比較＆工序</vt:lpstr>
      <vt:lpstr>法蘭摩沙－鎮寶、名湶、俊雄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1579</cp:revision>
  <dcterms:created xsi:type="dcterms:W3CDTF">2024-09-06T09:16:56Z</dcterms:created>
  <dcterms:modified xsi:type="dcterms:W3CDTF">2026-08-28T03:15:28Z</dcterms:modified>
</cp:coreProperties>
</file>
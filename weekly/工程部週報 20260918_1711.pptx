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64" r:id="rId2"/>
    <p:sldId id="616" r:id="rId3"/>
    <p:sldId id="705" r:id="rId4"/>
    <p:sldId id="676" r:id="rId5"/>
    <p:sldId id="703" r:id="rId6"/>
    <p:sldId id="706" r:id="rId7"/>
    <p:sldId id="704" r:id="rId8"/>
    <p:sldId id="678" r:id="rId9"/>
    <p:sldId id="707" r:id="rId10"/>
    <p:sldId id="328" r:id="rId11"/>
    <p:sldId id="327" r:id="rId12"/>
    <p:sldId id="679" r:id="rId13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6041" autoAdjust="0"/>
  </p:normalViewPr>
  <p:slideViewPr>
    <p:cSldViewPr snapToGrid="0">
      <p:cViewPr varScale="1">
        <p:scale>
          <a:sx n="60" d="100"/>
          <a:sy n="60" d="100"/>
        </p:scale>
        <p:origin x="72" y="10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2802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預留位置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D62E987-7EBA-43A6-9FB1-518ACC0C0016}" type="datetime1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2026/9/18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預留位置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2977E94-A6AB-4E02-8E43-E89F9CF4757F}" type="slidenum"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‹#›</a:t>
            </a:fld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3" name="日期預留位置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81CB75E-0C48-4433-BA77-C1F21AF9D86A}" type="datetime1">
              <a:rPr lang="zh-TW" altLang="en-US" smtClean="0"/>
              <a:pPr/>
              <a:t>2026/9/18</a:t>
            </a:fld>
            <a:endParaRPr lang="zh-TW" altLang="en-US" dirty="0"/>
          </a:p>
        </p:txBody>
      </p:sp>
      <p:sp>
        <p:nvSpPr>
          <p:cNvPr id="4" name="投影片影像預留位置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dirty="0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 dirty="0"/>
              <a:t>按一下以編輯母片文字樣式</a:t>
            </a:r>
          </a:p>
          <a:p>
            <a:pPr lvl="1" rtl="0"/>
            <a:r>
              <a:rPr lang="zh-TW" altLang="en-US" dirty="0"/>
              <a:t>第二層</a:t>
            </a:r>
          </a:p>
          <a:p>
            <a:pPr lvl="2" rtl="0"/>
            <a:r>
              <a:rPr lang="zh-TW" altLang="en-US" dirty="0"/>
              <a:t>第三層</a:t>
            </a:r>
          </a:p>
          <a:p>
            <a:pPr lvl="3" rtl="0"/>
            <a:r>
              <a:rPr lang="zh-TW" altLang="en-US" dirty="0"/>
              <a:t>第四層</a:t>
            </a:r>
          </a:p>
          <a:p>
            <a:pPr lvl="4" rtl="0"/>
            <a:r>
              <a:rPr lang="zh-TW" altLang="en-US" dirty="0"/>
              <a:t>第五層</a:t>
            </a:r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ED491D0-8E1B-49C7-849B-A28568D94497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>
            <a:extLst>
              <a:ext uri="{FF2B5EF4-FFF2-40B4-BE49-F238E27FC236}">
                <a16:creationId xmlns:a16="http://schemas.microsoft.com/office/drawing/2014/main" id="{3A164D86-336A-2349-15E8-4207643B700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>
            <a:extLst>
              <a:ext uri="{FF2B5EF4-FFF2-40B4-BE49-F238E27FC236}">
                <a16:creationId xmlns:a16="http://schemas.microsoft.com/office/drawing/2014/main" id="{29D28226-2CF5-2647-2375-67D263B7B72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19460" name="投影片編號版面配置區 3">
            <a:extLst>
              <a:ext uri="{FF2B5EF4-FFF2-40B4-BE49-F238E27FC236}">
                <a16:creationId xmlns:a16="http://schemas.microsoft.com/office/drawing/2014/main" id="{D5876671-0B37-C563-CA3E-398DC99244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9pPr>
          </a:lstStyle>
          <a:p>
            <a:pPr>
              <a:spcBef>
                <a:spcPct val="0"/>
              </a:spcBef>
            </a:pPr>
            <a:fld id="{21C9B475-2160-4D0D-B775-07063B412602}" type="slidenum">
              <a:rPr lang="en-US" altLang="zh-TW" smtClean="0"/>
              <a:pPr>
                <a:spcBef>
                  <a:spcPct val="0"/>
                </a:spcBef>
              </a:pPr>
              <a:t>10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投影片圖像版面配置區 1">
            <a:extLst>
              <a:ext uri="{FF2B5EF4-FFF2-40B4-BE49-F238E27FC236}">
                <a16:creationId xmlns:a16="http://schemas.microsoft.com/office/drawing/2014/main" id="{1DFA54ED-9443-1B83-0F92-9DC9AB0170A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備忘稿版面配置區 2">
            <a:extLst>
              <a:ext uri="{FF2B5EF4-FFF2-40B4-BE49-F238E27FC236}">
                <a16:creationId xmlns:a16="http://schemas.microsoft.com/office/drawing/2014/main" id="{E8F59BBA-20E8-46D8-4764-D68638318D2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D7EA43F0-7543-F5BA-532C-570241F1A2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9pPr>
          </a:lstStyle>
          <a:p>
            <a:pPr>
              <a:spcBef>
                <a:spcPct val="0"/>
              </a:spcBef>
            </a:pPr>
            <a:fld id="{FC8E487D-7FE8-4124-8EF2-195F370BB4A2}" type="slidenum">
              <a:rPr lang="en-US" altLang="zh-TW" smtClean="0"/>
              <a:pPr>
                <a:spcBef>
                  <a:spcPct val="0"/>
                </a:spcBef>
              </a:pPr>
              <a:t>11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2F629-3B2C-992D-D491-E7F4005FE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投影片圖像版面配置區 1">
            <a:extLst>
              <a:ext uri="{FF2B5EF4-FFF2-40B4-BE49-F238E27FC236}">
                <a16:creationId xmlns:a16="http://schemas.microsoft.com/office/drawing/2014/main" id="{E4E1B9BE-0410-E7A1-9C18-170549D3E92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備忘稿版面配置區 2">
            <a:extLst>
              <a:ext uri="{FF2B5EF4-FFF2-40B4-BE49-F238E27FC236}">
                <a16:creationId xmlns:a16="http://schemas.microsoft.com/office/drawing/2014/main" id="{359DCC97-E18A-2931-DCC4-34750E76533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C783766B-9FC4-DDB0-B1FF-030952548A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9pPr>
          </a:lstStyle>
          <a:p>
            <a:pPr>
              <a:spcBef>
                <a:spcPct val="0"/>
              </a:spcBef>
            </a:pPr>
            <a:fld id="{FC8E487D-7FE8-4124-8EF2-195F370BB4A2}" type="slidenum">
              <a:rPr lang="en-US" altLang="zh-TW" smtClean="0"/>
              <a:pPr>
                <a:spcBef>
                  <a:spcPct val="0"/>
                </a:spcBef>
              </a:pPr>
              <a:t>12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88573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rtlCol="0"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 rtlCol="0"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TW" altLang="en-US"/>
              <a:t>按一下以編輯母片副標題樣式</a:t>
            </a:r>
            <a:endParaRPr lang="zh-TW" altLang="en-US" dirty="0"/>
          </a:p>
        </p:txBody>
      </p:sp>
      <p:sp>
        <p:nvSpPr>
          <p:cNvPr id="11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2D869B4D-421E-43A3-BBAA-8CCFA957A67D}" type="datetime1">
              <a:rPr lang="zh-TW" altLang="en-US" smtClean="0"/>
              <a:t>2026/9/18</a:t>
            </a:fld>
            <a:endParaRPr lang="zh-TW" altLang="en-US" dirty="0"/>
          </a:p>
        </p:txBody>
      </p:sp>
      <p:sp>
        <p:nvSpPr>
          <p:cNvPr id="12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endParaRPr lang="zh-TW" altLang="en-US" dirty="0"/>
          </a:p>
        </p:txBody>
      </p:sp>
      <p:sp>
        <p:nvSpPr>
          <p:cNvPr id="13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BD266BE7-899D-4075-917F-DBDE33B6B692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2C5D44-5C85-485C-A00E-3A215B865BFF}" type="datetime1">
              <a:rPr lang="zh-TW" altLang="en-US" smtClean="0"/>
              <a:t>2026/9/18</a:t>
            </a:fld>
            <a:endParaRPr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 rtlCol="0"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/>
              <a:t>編輯母片文字樣式</a:t>
            </a:r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2A14740C-1CD2-4B76-9AEA-8BECFA354BC5}" type="datetime1">
              <a:rPr lang="zh-TW" altLang="en-US" smtClean="0"/>
              <a:t>2026/9/18</a:t>
            </a:fld>
            <a:endParaRPr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BD266BE7-899D-4075-917F-DBDE33B6B692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日期預留位置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54F1B4F-4B27-41CF-A46C-C0E416EBA6A3}" type="datetime1">
              <a:rPr lang="zh-TW" altLang="en-US" smtClean="0"/>
              <a:t>2026/9/18</a:t>
            </a:fld>
            <a:endParaRPr lang="zh-TW" altLang="en-US" dirty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編輯母片文字樣式</a:t>
            </a:r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文字預留位置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編輯母片文字樣式</a:t>
            </a:r>
          </a:p>
        </p:txBody>
      </p:sp>
      <p:sp>
        <p:nvSpPr>
          <p:cNvPr id="6" name="內容預留位置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7" name="日期預留位置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FF5A7E8-AC39-4209-B53D-28B070EB2637}" type="datetime1">
              <a:rPr lang="zh-TW" altLang="en-US" smtClean="0"/>
              <a:t>2026/9/18</a:t>
            </a:fld>
            <a:endParaRPr lang="zh-TW" altLang="en-US" dirty="0"/>
          </a:p>
        </p:txBody>
      </p:sp>
      <p:sp>
        <p:nvSpPr>
          <p:cNvPr id="8" name="頁尾預留位置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9" name="投影片編號預留位置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日期預留位置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94A37D3-65DB-46B6-81BC-43363DB4BC67}" type="datetime1">
              <a:rPr lang="zh-TW" altLang="en-US" smtClean="0"/>
              <a:t>2026/9/18</a:t>
            </a:fld>
            <a:endParaRPr lang="zh-TW" altLang="en-US" dirty="0"/>
          </a:p>
        </p:txBody>
      </p:sp>
      <p:sp>
        <p:nvSpPr>
          <p:cNvPr id="4" name="頁尾預留位置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預留位置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063B5AA-F24B-482A-91F0-C543E9D06BFE}" type="datetime1">
              <a:rPr lang="zh-TW" altLang="en-US" smtClean="0"/>
              <a:t>2026/9/18</a:t>
            </a:fld>
            <a:endParaRPr lang="zh-TW" altLang="en-US" dirty="0"/>
          </a:p>
        </p:txBody>
      </p:sp>
      <p:sp>
        <p:nvSpPr>
          <p:cNvPr id="3" name="頁尾預留位置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>
            <a:lvl1pPr>
              <a:defRPr sz="30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4" name="文字預留位置 2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 rtlCol="0"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編輯母片文字樣式</a:t>
            </a:r>
          </a:p>
        </p:txBody>
      </p:sp>
      <p:sp>
        <p:nvSpPr>
          <p:cNvPr id="3" name="內容預留位置 3"/>
          <p:cNvSpPr>
            <a:spLocks noGrp="1"/>
          </p:cNvSpPr>
          <p:nvPr>
            <p:ph idx="1"/>
          </p:nvPr>
        </p:nvSpPr>
        <p:spPr>
          <a:xfrm>
            <a:off x="5518897" y="2465294"/>
            <a:ext cx="5174504" cy="3711669"/>
          </a:xfrm>
        </p:spPr>
        <p:txBody>
          <a:bodyPr rtlCol="0"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日期預留位置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026CB77-6226-4325-8851-4C25870E44A4}" type="datetime1">
              <a:rPr lang="zh-TW" altLang="en-US" smtClean="0"/>
              <a:t>2026/9/18</a:t>
            </a:fld>
            <a:endParaRPr lang="zh-TW" altLang="en-US" dirty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>
            <a:lvl1pPr>
              <a:defRPr sz="30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 rtlCol="0"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編輯母片文字樣式</a:t>
            </a:r>
          </a:p>
        </p:txBody>
      </p:sp>
      <p:sp>
        <p:nvSpPr>
          <p:cNvPr id="3" name="圖片預留位置 2" descr="要新增影像的空白預留位置。按一下預留位置，然後選取您要新增的影像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TW" altLang="en-US"/>
              <a:t>按一下圖示以新增圖片</a:t>
            </a:r>
            <a:endParaRPr lang="zh-TW" altLang="en-US" dirty="0"/>
          </a:p>
        </p:txBody>
      </p:sp>
      <p:sp>
        <p:nvSpPr>
          <p:cNvPr id="5" name="日期預留位置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402A5DE-81A3-4C0F-B253-6B97355A8EFB}" type="datetime1">
              <a:rPr lang="zh-TW" altLang="en-US" smtClean="0"/>
              <a:t>2026/9/18</a:t>
            </a:fld>
            <a:endParaRPr lang="zh-TW" altLang="en-US" dirty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/>
        <p:txBody>
          <a:bodyPr vert="vert"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0B3D213-BE9F-47D9-B14D-790FF4D46DDE}" type="datetime1">
              <a:rPr lang="zh-TW" altLang="en-US" smtClean="0"/>
              <a:t>2026/9/18</a:t>
            </a:fld>
            <a:endParaRPr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vert"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vert"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 rtlCol="0"/>
          <a:lstStyle/>
          <a:p>
            <a:pPr rtl="0"/>
            <a:fld id="{5E5D3233-A6CF-47E7-8A67-907069E6709A}" type="datetime1">
              <a:rPr lang="zh-TW" altLang="en-US" smtClean="0"/>
              <a:t>2026/9/18</a:t>
            </a:fld>
            <a:endParaRPr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標題預留位置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TW" altLang="en-US" dirty="0"/>
              <a:t>按一下以編輯母片文字樣式</a:t>
            </a:r>
          </a:p>
          <a:p>
            <a:pPr lvl="1" rtl="0"/>
            <a:r>
              <a:rPr lang="zh-TW" altLang="en-US" dirty="0"/>
              <a:t>第二層</a:t>
            </a:r>
          </a:p>
          <a:p>
            <a:pPr lvl="2" rtl="0"/>
            <a:r>
              <a:rPr lang="zh-TW" altLang="en-US" dirty="0"/>
              <a:t>第三層</a:t>
            </a:r>
          </a:p>
          <a:p>
            <a:pPr lvl="3" rtl="0"/>
            <a:r>
              <a:rPr lang="zh-TW" altLang="en-US" dirty="0"/>
              <a:t>第四層</a:t>
            </a:r>
          </a:p>
          <a:p>
            <a:pPr lvl="4" rtl="0"/>
            <a:r>
              <a:rPr lang="zh-TW" altLang="en-US" dirty="0"/>
              <a:t>第五層</a:t>
            </a:r>
          </a:p>
          <a:p>
            <a:pPr lvl="5" rtl="0"/>
            <a:r>
              <a:rPr lang="zh-TW" altLang="en-US" dirty="0"/>
              <a:t>第六</a:t>
            </a:r>
          </a:p>
          <a:p>
            <a:pPr lvl="6" rtl="0"/>
            <a:r>
              <a:rPr lang="zh-TW" altLang="en-US" dirty="0"/>
              <a:t>第七</a:t>
            </a:r>
          </a:p>
          <a:p>
            <a:pPr lvl="7" rtl="0"/>
            <a:r>
              <a:rPr lang="zh-TW" altLang="en-US" dirty="0"/>
              <a:t>第八</a:t>
            </a:r>
          </a:p>
          <a:p>
            <a:pPr lvl="8" rtl="0"/>
            <a:r>
              <a:rPr lang="zh-TW" altLang="en-US" dirty="0"/>
              <a:t>第九</a:t>
            </a:r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0452E09C-297D-4B4B-9D8E-547194E495B4}" type="datetime1">
              <a:rPr lang="zh-TW" altLang="en-US" smtClean="0"/>
              <a:t>2026/9/18</a:t>
            </a:fld>
            <a:endParaRPr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D266BE7-899D-4075-917F-DBDE33B6B692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7" Type="http://schemas.openxmlformats.org/officeDocument/2006/relationships/image" Target="../media/image2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eg"/><Relationship Id="rId3" Type="http://schemas.openxmlformats.org/officeDocument/2006/relationships/image" Target="../media/image25.jpeg"/><Relationship Id="rId7" Type="http://schemas.openxmlformats.org/officeDocument/2006/relationships/image" Target="../media/image2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03813" y="1298089"/>
            <a:ext cx="4416594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6000" b="1" spc="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工程部週報</a:t>
            </a:r>
          </a:p>
        </p:txBody>
      </p:sp>
      <p:sp>
        <p:nvSpPr>
          <p:cNvPr id="4" name="矩形 3"/>
          <p:cNvSpPr/>
          <p:nvPr/>
        </p:nvSpPr>
        <p:spPr>
          <a:xfrm>
            <a:off x="261270" y="26127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TW" altLang="en-US" b="1" spc="300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綠源科技股份有限公司</a:t>
            </a:r>
          </a:p>
          <a:p>
            <a:r>
              <a:rPr lang="en-US" altLang="zh-TW" b="1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Green Source Technology</a:t>
            </a:r>
          </a:p>
        </p:txBody>
      </p:sp>
      <p:sp>
        <p:nvSpPr>
          <p:cNvPr id="5" name="矩形 4"/>
          <p:cNvSpPr/>
          <p:nvPr/>
        </p:nvSpPr>
        <p:spPr>
          <a:xfrm>
            <a:off x="4031440" y="2397642"/>
            <a:ext cx="39613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 dirty="0">
                <a:solidFill>
                  <a:schemeClr val="accent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2026/09/14</a:t>
            </a:r>
            <a:r>
              <a:rPr lang="zh-TW" altLang="en-US" sz="2400" b="1" dirty="0">
                <a:solidFill>
                  <a:schemeClr val="accent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～</a:t>
            </a:r>
            <a:r>
              <a:rPr lang="en-US" altLang="zh-TW" sz="2400" b="1" dirty="0">
                <a:solidFill>
                  <a:schemeClr val="accent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2026/09/18</a:t>
            </a:r>
          </a:p>
        </p:txBody>
      </p:sp>
    </p:spTree>
    <p:extLst>
      <p:ext uri="{BB962C8B-B14F-4D97-AF65-F5344CB8AC3E}">
        <p14:creationId xmlns:p14="http://schemas.microsoft.com/office/powerpoint/2010/main" val="35652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50215-33A6-9C18-4F2E-C5927E9F5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B0FFCDB3-D4F1-F77F-7453-B75037DD3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0289" y="2221076"/>
            <a:ext cx="9688504" cy="4449872"/>
          </a:xfrm>
        </p:spPr>
        <p:txBody>
          <a:bodyPr>
            <a:noAutofit/>
          </a:bodyPr>
          <a:lstStyle/>
          <a:p>
            <a:r>
              <a:rPr lang="zh-TW" altLang="en-US" sz="2000" b="1" dirty="0"/>
              <a:t>工程事項：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/>
              <a:t>支架組裝 </a:t>
            </a:r>
            <a:r>
              <a:rPr lang="en-US" altLang="zh-TW" sz="2000" b="1"/>
              <a:t>26%</a:t>
            </a:r>
            <a:r>
              <a:rPr lang="zh-TW" altLang="en-US" sz="2000" b="1"/>
              <a:t>（鋼</a:t>
            </a:r>
            <a:r>
              <a:rPr lang="zh-TW" altLang="en-US" sz="2000" b="1" dirty="0"/>
              <a:t>構鏽點除鏽、清潔、上高鋅漆</a:t>
            </a:r>
            <a:r>
              <a:rPr lang="zh-TW" altLang="en-US" sz="2000" b="1"/>
              <a:t>兩層 </a:t>
            </a:r>
            <a:r>
              <a:rPr lang="en-US" altLang="zh-TW" sz="2000" b="1"/>
              <a:t>50%</a:t>
            </a:r>
            <a:r>
              <a:rPr lang="zh-TW" altLang="en-US" sz="2000" b="1"/>
              <a:t>）</a:t>
            </a:r>
            <a:endParaRPr lang="en-US" altLang="zh-TW" sz="2000" b="1"/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/>
              <a:t>支架組裝 </a:t>
            </a:r>
            <a:r>
              <a:rPr lang="en-US" altLang="zh-TW" sz="2000" b="1"/>
              <a:t>31.2%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zh-TW" altLang="en-US" sz="2000" b="1"/>
              <a:t>組立假固定</a:t>
            </a:r>
            <a:r>
              <a:rPr lang="en-US" altLang="zh-TW" sz="2000" b="1"/>
              <a:t> 40%</a:t>
            </a:r>
            <a:r>
              <a:rPr lang="zh-TW" altLang="en-US" sz="2000" b="1"/>
              <a:t>（補鋅漆 </a:t>
            </a:r>
            <a:r>
              <a:rPr lang="en-US" altLang="zh-TW" sz="2000" b="1"/>
              <a:t>60%</a:t>
            </a:r>
            <a:r>
              <a:rPr lang="zh-TW" altLang="en-US" sz="2000" b="1"/>
              <a:t>）</a:t>
            </a:r>
            <a:endParaRPr lang="en-US" altLang="zh-TW" sz="2000" b="1"/>
          </a:p>
          <a:p>
            <a:pPr>
              <a:buFont typeface="Wingdings" panose="05000000000000000000" pitchFamily="2" charset="2"/>
              <a:buChar char="Ø"/>
            </a:pPr>
            <a:r>
              <a:rPr lang="zh-TW" altLang="en-US" sz="2000" b="1"/>
              <a:t>鎖固定磅：</a:t>
            </a:r>
            <a:endParaRPr lang="en-US" altLang="zh-TW" sz="2000" b="1"/>
          </a:p>
          <a:p>
            <a:pPr marL="0" indent="0">
              <a:buNone/>
            </a:pPr>
            <a:r>
              <a:rPr lang="en-US" altLang="zh-TW" sz="2000" b="1"/>
              <a:t>M16</a:t>
            </a:r>
            <a:r>
              <a:rPr lang="zh-TW" altLang="en-US" sz="2000" b="1"/>
              <a:t> 立柱 </a:t>
            </a:r>
            <a:r>
              <a:rPr lang="en-US" altLang="zh-TW" sz="2000" b="1"/>
              <a:t>0%</a:t>
            </a:r>
          </a:p>
          <a:p>
            <a:pPr marL="0" indent="0">
              <a:buNone/>
            </a:pPr>
            <a:r>
              <a:rPr lang="en-US" altLang="zh-TW" sz="2000" b="1"/>
              <a:t>M12 </a:t>
            </a:r>
            <a:r>
              <a:rPr lang="zh-TW" altLang="en-US" sz="2000" b="1"/>
              <a:t>橫梁</a:t>
            </a:r>
            <a:r>
              <a:rPr lang="en-US" altLang="zh-TW" sz="2000" b="1"/>
              <a:t> 50/480</a:t>
            </a:r>
            <a:r>
              <a:rPr lang="zh-TW" altLang="en-US" sz="2000" b="1"/>
              <a:t>，次樑</a:t>
            </a:r>
            <a:r>
              <a:rPr lang="en-US" altLang="zh-TW" sz="2000" b="1"/>
              <a:t> 30/112</a:t>
            </a:r>
            <a:r>
              <a:rPr lang="zh-TW" altLang="en-US" sz="2000" b="1"/>
              <a:t>，斜撐</a:t>
            </a:r>
            <a:r>
              <a:rPr lang="en-US" altLang="zh-TW" sz="2000" b="1"/>
              <a:t> 40/160</a:t>
            </a:r>
            <a:r>
              <a:rPr lang="zh-TW" altLang="en-US" sz="2000" b="1"/>
              <a:t>，</a:t>
            </a:r>
            <a:r>
              <a:rPr lang="en-US" altLang="zh-TW" sz="2000" b="1"/>
              <a:t>C</a:t>
            </a:r>
            <a:r>
              <a:rPr lang="zh-TW" altLang="en-US" sz="2000" b="1"/>
              <a:t>鋼</a:t>
            </a:r>
            <a:r>
              <a:rPr lang="en-US" altLang="zh-TW" sz="2000" b="1"/>
              <a:t> 200/1200</a:t>
            </a:r>
            <a:r>
              <a:rPr lang="zh-TW" altLang="en-US" sz="2000" b="1"/>
              <a:t>、</a:t>
            </a:r>
            <a:r>
              <a:rPr lang="en-US" altLang="zh-TW" sz="2000" b="1"/>
              <a:t>320/2432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zh-TW" altLang="en-US" sz="2000" b="1"/>
              <a:t>無收縮水泥 </a:t>
            </a:r>
            <a:r>
              <a:rPr lang="en-US" altLang="zh-TW" sz="2000" b="1"/>
              <a:t>0%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zh-TW" altLang="en-US" sz="2000" b="1"/>
              <a:t>物料吊掛進場已完成</a:t>
            </a:r>
            <a:endParaRPr lang="en-US" altLang="zh-TW" sz="2000" b="1" dirty="0"/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1AD1E3EE-06EA-647D-8404-E986455EC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466343"/>
            <a:ext cx="9628632" cy="1362113"/>
          </a:xfrm>
        </p:spPr>
        <p:txBody>
          <a:bodyPr>
            <a:normAutofit/>
          </a:bodyPr>
          <a:lstStyle/>
          <a:p>
            <a:r>
              <a:rPr lang="zh-TW" altLang="en-US" sz="3200" b="1" dirty="0"/>
              <a:t>兆豐銀行－宏明</a:t>
            </a:r>
          </a:p>
        </p:txBody>
      </p:sp>
    </p:spTree>
    <p:extLst>
      <p:ext uri="{BB962C8B-B14F-4D97-AF65-F5344CB8AC3E}">
        <p14:creationId xmlns:p14="http://schemas.microsoft.com/office/powerpoint/2010/main" val="1881843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9FEA5-39C3-2BCD-E8F6-5A82078B5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FD5AF16A-A619-0074-2A3A-3C65FAAAA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0289" y="2221076"/>
            <a:ext cx="9688504" cy="4449872"/>
          </a:xfrm>
        </p:spPr>
        <p:txBody>
          <a:bodyPr>
            <a:noAutofit/>
          </a:bodyPr>
          <a:lstStyle/>
          <a:p>
            <a:r>
              <a:rPr lang="zh-TW" altLang="en-US" sz="2000" b="1" dirty="0"/>
              <a:t>工程事項：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zh-TW" altLang="en-US" sz="2000" b="1"/>
              <a:t>模組安裝 </a:t>
            </a:r>
            <a:r>
              <a:rPr lang="en-US" altLang="zh-TW" sz="2000" b="1"/>
              <a:t>60%</a:t>
            </a:r>
            <a:r>
              <a:rPr lang="zh-TW" altLang="en-US" sz="2000" b="1" dirty="0"/>
              <a:t>（模組板</a:t>
            </a:r>
            <a:r>
              <a:rPr lang="zh-TW" altLang="en-US" sz="2000" b="1"/>
              <a:t>上棚架完成、</a:t>
            </a:r>
            <a:r>
              <a:rPr lang="zh-TW" altLang="en-US" sz="2000" b="1" dirty="0"/>
              <a:t>模組螺絲定磅 </a:t>
            </a:r>
            <a:r>
              <a:rPr lang="en-US" altLang="zh-TW" sz="2000" b="1" dirty="0"/>
              <a:t>0%</a:t>
            </a:r>
            <a:r>
              <a:rPr lang="zh-TW" altLang="en-US" sz="2000" b="1" dirty="0"/>
              <a:t>、吊掛進料完成）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zh-TW" altLang="en-US" sz="2000" b="1" dirty="0"/>
              <a:t>變流器安裝 </a:t>
            </a:r>
            <a:r>
              <a:rPr lang="en-US" altLang="zh-TW" sz="2000" b="1" dirty="0"/>
              <a:t>90%</a:t>
            </a:r>
            <a:r>
              <a:rPr lang="zh-TW" altLang="en-US" sz="2000" b="1" dirty="0"/>
              <a:t>（安裝固定完成尚未結線測試）</a:t>
            </a:r>
            <a:endParaRPr lang="en-US" altLang="zh-TW" sz="2000" b="1" dirty="0"/>
          </a:p>
          <a:p>
            <a:pPr marL="457200" indent="-457200">
              <a:buFont typeface="+mj-lt"/>
              <a:buAutoNum type="arabicPeriod" startAt="3"/>
            </a:pPr>
            <a:r>
              <a:rPr lang="zh-TW" altLang="en-US" sz="2000" b="1" dirty="0"/>
              <a:t>儲能櫃安裝 </a:t>
            </a:r>
            <a:r>
              <a:rPr lang="en-US" altLang="zh-TW" sz="2000" b="1" dirty="0"/>
              <a:t>10%</a:t>
            </a:r>
          </a:p>
          <a:p>
            <a:pPr marL="0" indent="0">
              <a:buNone/>
            </a:pPr>
            <a:r>
              <a:rPr lang="zh-TW" altLang="en-US" sz="2000" b="1" dirty="0"/>
              <a:t>       （吊掛進料完成、監控拉線測試 </a:t>
            </a:r>
            <a:r>
              <a:rPr lang="en-US" altLang="zh-TW" sz="2000" b="1" dirty="0"/>
              <a:t>0%</a:t>
            </a:r>
            <a:r>
              <a:rPr lang="zh-TW" altLang="en-US" sz="2000" b="1" dirty="0"/>
              <a:t>、電纜接線 </a:t>
            </a:r>
            <a:r>
              <a:rPr lang="en-US" altLang="zh-TW" sz="2000" b="1" dirty="0"/>
              <a:t>0%</a:t>
            </a:r>
            <a:r>
              <a:rPr lang="zh-TW" altLang="en-US" sz="2000" b="1" dirty="0"/>
              <a:t>、充放電測試 </a:t>
            </a:r>
            <a:r>
              <a:rPr lang="en-US" altLang="zh-TW" sz="2000" b="1" dirty="0"/>
              <a:t>0%</a:t>
            </a:r>
            <a:r>
              <a:rPr lang="zh-TW" altLang="en-US" sz="2000" b="1" dirty="0"/>
              <a:t>）</a:t>
            </a:r>
            <a:endParaRPr lang="en-US" altLang="zh-TW" sz="2000" b="1" dirty="0"/>
          </a:p>
          <a:p>
            <a:pPr marL="0" indent="0">
              <a:spcBef>
                <a:spcPts val="500"/>
              </a:spcBef>
              <a:buNone/>
            </a:pPr>
            <a:endParaRPr lang="en-US" altLang="zh-TW" sz="2000" b="1" dirty="0"/>
          </a:p>
          <a:p>
            <a:r>
              <a:rPr lang="zh-TW" altLang="en-US" sz="2000" b="1" dirty="0"/>
              <a:t>追蹤事項：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/>
              <a:t>追蹤後續</a:t>
            </a:r>
            <a:r>
              <a:rPr lang="en-US" altLang="zh-TW" sz="2000" b="1"/>
              <a:t>AC</a:t>
            </a:r>
            <a:r>
              <a:rPr lang="zh-TW" altLang="en-US" sz="2000" b="1"/>
              <a:t> </a:t>
            </a:r>
            <a:r>
              <a:rPr lang="zh-TW" altLang="en-US" sz="2000" b="1" dirty="0"/>
              <a:t>盤體 </a:t>
            </a:r>
            <a:r>
              <a:rPr lang="en-US" altLang="zh-TW" sz="2000" b="1" dirty="0"/>
              <a:t>…</a:t>
            </a:r>
            <a:r>
              <a:rPr lang="zh-TW" altLang="en-US" sz="2000" b="1" dirty="0"/>
              <a:t> 等物料進場及施工人員進場</a:t>
            </a: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E63B7D18-10FF-8D4A-4814-534B43991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466343"/>
            <a:ext cx="9628632" cy="1362113"/>
          </a:xfrm>
        </p:spPr>
        <p:txBody>
          <a:bodyPr>
            <a:normAutofit/>
          </a:bodyPr>
          <a:lstStyle/>
          <a:p>
            <a:r>
              <a:rPr lang="zh-TW" altLang="en-US" sz="3200" b="1" dirty="0"/>
              <a:t>兆豐銀行－宏明</a:t>
            </a:r>
          </a:p>
        </p:txBody>
      </p:sp>
    </p:spTree>
    <p:extLst>
      <p:ext uri="{BB962C8B-B14F-4D97-AF65-F5344CB8AC3E}">
        <p14:creationId xmlns:p14="http://schemas.microsoft.com/office/powerpoint/2010/main" val="1156721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EAE2C-7421-5743-294D-C949DDCE7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1C875D14-C1BB-A698-D24A-B4FD96D2C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579" y="466343"/>
            <a:ext cx="10348842" cy="1362113"/>
          </a:xfrm>
        </p:spPr>
        <p:txBody>
          <a:bodyPr>
            <a:normAutofit/>
          </a:bodyPr>
          <a:lstStyle/>
          <a:p>
            <a:pPr algn="ctr"/>
            <a:r>
              <a:rPr lang="zh-TW" altLang="en-US" sz="2600" b="1" dirty="0">
                <a:solidFill>
                  <a:schemeClr val="bg2"/>
                </a:solidFill>
              </a:rPr>
              <a:t>模組安裝</a:t>
            </a:r>
          </a:p>
        </p:txBody>
      </p:sp>
      <p:pic>
        <p:nvPicPr>
          <p:cNvPr id="4" name="Picture 17411" descr="image.png">
            <a:extLst>
              <a:ext uri="{FF2B5EF4-FFF2-40B4-BE49-F238E27FC236}">
                <a16:creationId xmlns:a16="http://schemas.microsoft.com/office/drawing/2014/main" id="{951499E3-6A8C-09F6-3DBF-D8000114B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39331"/>
            <a:ext cx="2621503" cy="3534985"/>
          </a:xfrm>
          <a:prstGeom prst="rect">
            <a:avLst/>
          </a:prstGeom>
        </p:spPr>
      </p:pic>
      <p:pic>
        <p:nvPicPr>
          <p:cNvPr id="8" name="Picture 17412" descr="image.png">
            <a:extLst>
              <a:ext uri="{FF2B5EF4-FFF2-40B4-BE49-F238E27FC236}">
                <a16:creationId xmlns:a16="http://schemas.microsoft.com/office/drawing/2014/main" id="{1C9C6DF9-7596-77B1-0210-952F33FED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223" y="2539331"/>
            <a:ext cx="4712249" cy="3534985"/>
          </a:xfrm>
          <a:prstGeom prst="rect">
            <a:avLst/>
          </a:prstGeom>
        </p:spPr>
      </p:pic>
      <p:pic>
        <p:nvPicPr>
          <p:cNvPr id="11" name="Picture 17413" descr="image.png">
            <a:extLst>
              <a:ext uri="{FF2B5EF4-FFF2-40B4-BE49-F238E27FC236}">
                <a16:creationId xmlns:a16="http://schemas.microsoft.com/office/drawing/2014/main" id="{570D2706-FFBA-93D8-6014-5598249DA7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5192" y="2539331"/>
            <a:ext cx="4766776" cy="3534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193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DCE08-C134-6EFB-165E-1DA5644CA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F5518757-B19E-D059-B123-AE3DB9489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579" y="466343"/>
            <a:ext cx="10348842" cy="1362113"/>
          </a:xfrm>
        </p:spPr>
        <p:txBody>
          <a:bodyPr>
            <a:normAutofit/>
          </a:bodyPr>
          <a:lstStyle/>
          <a:p>
            <a:pPr algn="ctr"/>
            <a:r>
              <a:rPr lang="zh-TW" altLang="en-US" sz="2600" b="1">
                <a:solidFill>
                  <a:schemeClr val="bg2"/>
                </a:solidFill>
              </a:rPr>
              <a:t>支架鎖固</a:t>
            </a:r>
            <a:endParaRPr lang="zh-TW" altLang="en-US" sz="2600" b="1" dirty="0">
              <a:solidFill>
                <a:schemeClr val="bg2"/>
              </a:solidFill>
            </a:endParaRPr>
          </a:p>
        </p:txBody>
      </p:sp>
      <p:pic>
        <p:nvPicPr>
          <p:cNvPr id="4" name="Picture 19459" descr="image.jpeg">
            <a:extLst>
              <a:ext uri="{FF2B5EF4-FFF2-40B4-BE49-F238E27FC236}">
                <a16:creationId xmlns:a16="http://schemas.microsoft.com/office/drawing/2014/main" id="{1673E24E-EC9E-D60C-E2B1-754FC7AE8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28888"/>
            <a:ext cx="6073124" cy="4555871"/>
          </a:xfrm>
          <a:prstGeom prst="rect">
            <a:avLst/>
          </a:prstGeom>
        </p:spPr>
      </p:pic>
      <p:pic>
        <p:nvPicPr>
          <p:cNvPr id="9" name="Picture 19460" descr="image.jpeg">
            <a:extLst>
              <a:ext uri="{FF2B5EF4-FFF2-40B4-BE49-F238E27FC236}">
                <a16:creationId xmlns:a16="http://schemas.microsoft.com/office/drawing/2014/main" id="{7DA6B88B-7D33-505B-27C1-15EBD6E4A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8844" y="2028888"/>
            <a:ext cx="6073124" cy="4555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541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0B5FA-2D31-FBE5-3C5F-55C96D942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FCC199C0-C6D9-BDDF-48BC-4A9034F35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579" y="466343"/>
            <a:ext cx="10348842" cy="1362113"/>
          </a:xfrm>
        </p:spPr>
        <p:txBody>
          <a:bodyPr>
            <a:normAutofit/>
          </a:bodyPr>
          <a:lstStyle/>
          <a:p>
            <a:pPr algn="ctr"/>
            <a:r>
              <a:rPr lang="zh-TW" altLang="en-US" sz="2600" b="1">
                <a:solidFill>
                  <a:schemeClr val="bg2"/>
                </a:solidFill>
              </a:rPr>
              <a:t>螢幕、</a:t>
            </a:r>
            <a:r>
              <a:rPr lang="en-US" altLang="zh-TW" sz="2600" b="1">
                <a:solidFill>
                  <a:schemeClr val="bg2"/>
                </a:solidFill>
              </a:rPr>
              <a:t>ACP</a:t>
            </a:r>
            <a:r>
              <a:rPr lang="zh-TW" altLang="en-US" sz="2600" b="1">
                <a:solidFill>
                  <a:schemeClr val="bg2"/>
                </a:solidFill>
              </a:rPr>
              <a:t>箱體</a:t>
            </a:r>
            <a:endParaRPr lang="zh-TW" altLang="en-US" sz="2600" b="1" dirty="0">
              <a:solidFill>
                <a:schemeClr val="bg2"/>
              </a:solidFill>
            </a:endParaRPr>
          </a:p>
        </p:txBody>
      </p:sp>
      <p:pic>
        <p:nvPicPr>
          <p:cNvPr id="3" name="Picture 21507" descr="image.jpeg">
            <a:extLst>
              <a:ext uri="{FF2B5EF4-FFF2-40B4-BE49-F238E27FC236}">
                <a16:creationId xmlns:a16="http://schemas.microsoft.com/office/drawing/2014/main" id="{60D9F2B4-64ED-59E3-E943-0FA35554A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29954"/>
            <a:ext cx="2197531" cy="4753739"/>
          </a:xfrm>
          <a:prstGeom prst="rect">
            <a:avLst/>
          </a:prstGeom>
        </p:spPr>
      </p:pic>
      <p:pic>
        <p:nvPicPr>
          <p:cNvPr id="5" name="Picture 21508" descr="image.jpeg">
            <a:extLst>
              <a:ext uri="{FF2B5EF4-FFF2-40B4-BE49-F238E27FC236}">
                <a16:creationId xmlns:a16="http://schemas.microsoft.com/office/drawing/2014/main" id="{D39D83B8-AA93-5A38-84BD-4A6931EC2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3251" y="1929954"/>
            <a:ext cx="3566109" cy="4753739"/>
          </a:xfrm>
          <a:prstGeom prst="rect">
            <a:avLst/>
          </a:prstGeom>
        </p:spPr>
      </p:pic>
      <p:pic>
        <p:nvPicPr>
          <p:cNvPr id="8" name="Picture 21509" descr="image.jpeg">
            <a:extLst>
              <a:ext uri="{FF2B5EF4-FFF2-40B4-BE49-F238E27FC236}">
                <a16:creationId xmlns:a16="http://schemas.microsoft.com/office/drawing/2014/main" id="{23F894AA-5E92-AA44-FF74-4AF2C40169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5080" y="1929954"/>
            <a:ext cx="6336889" cy="475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74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9D10B-915E-19EE-E930-DA15BB96C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EAACB028-F1B5-DDC2-C82E-3A33120DD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0289" y="2221076"/>
            <a:ext cx="9688504" cy="4449872"/>
          </a:xfrm>
        </p:spPr>
        <p:txBody>
          <a:bodyPr>
            <a:noAutofit/>
          </a:bodyPr>
          <a:lstStyle/>
          <a:p>
            <a:r>
              <a:rPr lang="zh-TW" altLang="en-US" sz="2000" b="1"/>
              <a:t>追蹤</a:t>
            </a:r>
            <a:r>
              <a:rPr lang="zh-TW" altLang="en-US" sz="2000" b="1" dirty="0"/>
              <a:t>事項：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 dirty="0"/>
              <a:t>漏水 </a:t>
            </a:r>
            <a:r>
              <a:rPr lang="en-US" altLang="zh-TW" sz="2000" b="1" dirty="0"/>
              <a:t>8/25 </a:t>
            </a:r>
            <a:r>
              <a:rPr lang="zh-TW" altLang="en-US" sz="2000" b="1" dirty="0"/>
              <a:t>提報、施工工法及工序建議，內部審核中</a:t>
            </a:r>
            <a:r>
              <a:rPr lang="zh-TW" altLang="en-US" sz="2000" b="1" dirty="0">
                <a:solidFill>
                  <a:schemeClr val="accent2"/>
                </a:solidFill>
              </a:rPr>
              <a:t>（</a:t>
            </a:r>
            <a:r>
              <a:rPr lang="zh-TW" altLang="en-US" sz="2000" b="1">
                <a:solidFill>
                  <a:schemeClr val="accent2"/>
                </a:solidFill>
              </a:rPr>
              <a:t>第 </a:t>
            </a:r>
            <a:r>
              <a:rPr lang="en-US" altLang="zh-TW" sz="2000" b="1">
                <a:solidFill>
                  <a:schemeClr val="accent2"/>
                </a:solidFill>
              </a:rPr>
              <a:t>23 </a:t>
            </a:r>
            <a:r>
              <a:rPr lang="zh-TW" altLang="en-US" sz="2000" b="1" dirty="0">
                <a:solidFill>
                  <a:schemeClr val="accent2"/>
                </a:solidFill>
              </a:rPr>
              <a:t>天）</a:t>
            </a: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8CCB153B-A8E7-DA53-F2F7-CC7C49F9A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466343"/>
            <a:ext cx="9628632" cy="1362113"/>
          </a:xfrm>
        </p:spPr>
        <p:txBody>
          <a:bodyPr>
            <a:normAutofit/>
          </a:bodyPr>
          <a:lstStyle/>
          <a:p>
            <a:r>
              <a:rPr lang="zh-TW" altLang="en-US" sz="3200" b="1" dirty="0"/>
              <a:t>台以八翁－宏明</a:t>
            </a:r>
          </a:p>
        </p:txBody>
      </p:sp>
    </p:spTree>
    <p:extLst>
      <p:ext uri="{BB962C8B-B14F-4D97-AF65-F5344CB8AC3E}">
        <p14:creationId xmlns:p14="http://schemas.microsoft.com/office/powerpoint/2010/main" val="2733873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4E1CE-E971-164F-79AC-12F74E65E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8AAF4213-7FA8-F509-5DB5-EA5CE4C6E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466343"/>
            <a:ext cx="9628632" cy="1362113"/>
          </a:xfrm>
        </p:spPr>
        <p:txBody>
          <a:bodyPr>
            <a:normAutofit/>
          </a:bodyPr>
          <a:lstStyle/>
          <a:p>
            <a:r>
              <a:rPr lang="zh-TW" altLang="en-US" sz="3200" b="1" dirty="0"/>
              <a:t>法蘭摩沙－鎮寶、名湶、俊雄</a:t>
            </a: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78ADBE2B-7991-4C61-4FFC-87F4B6806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0288" y="2221076"/>
            <a:ext cx="9926247" cy="44498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000" b="1" dirty="0">
                <a:solidFill>
                  <a:schemeClr val="accent2"/>
                </a:solidFill>
              </a:rPr>
              <a:t>F</a:t>
            </a:r>
            <a:r>
              <a:rPr lang="zh-TW" altLang="en-US" sz="2000" b="1" dirty="0">
                <a:solidFill>
                  <a:schemeClr val="accent2"/>
                </a:solidFill>
              </a:rPr>
              <a:t> 區配管進度 </a:t>
            </a:r>
            <a:r>
              <a:rPr lang="en-US" altLang="zh-TW" sz="2000" b="1" dirty="0">
                <a:solidFill>
                  <a:schemeClr val="accent2"/>
                </a:solidFill>
              </a:rPr>
              <a:t>100%</a:t>
            </a:r>
          </a:p>
          <a:p>
            <a:pPr marL="0" indent="0">
              <a:buNone/>
            </a:pPr>
            <a:r>
              <a:rPr lang="zh-TW" altLang="en-US" sz="2000" b="1" dirty="0">
                <a:solidFill>
                  <a:schemeClr val="accent2"/>
                </a:solidFill>
              </a:rPr>
              <a:t>拉線</a:t>
            </a:r>
            <a:r>
              <a:rPr lang="zh-TW" altLang="en-US" sz="2000" b="1">
                <a:solidFill>
                  <a:schemeClr val="accent2"/>
                </a:solidFill>
              </a:rPr>
              <a:t>進度 </a:t>
            </a:r>
            <a:r>
              <a:rPr lang="en-US" altLang="zh-TW" sz="2000" b="1">
                <a:solidFill>
                  <a:schemeClr val="accent2"/>
                </a:solidFill>
              </a:rPr>
              <a:t>92%</a:t>
            </a:r>
            <a:endParaRPr lang="en-US" altLang="zh-TW" sz="2000" b="1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zh-TW" altLang="en-US" sz="2000" b="1" dirty="0">
                <a:solidFill>
                  <a:schemeClr val="accent2"/>
                </a:solidFill>
              </a:rPr>
              <a:t>絕緣導通</a:t>
            </a:r>
            <a:r>
              <a:rPr lang="zh-TW" altLang="en-US" sz="2000" b="1">
                <a:solidFill>
                  <a:schemeClr val="accent2"/>
                </a:solidFill>
              </a:rPr>
              <a:t>測試 </a:t>
            </a:r>
            <a:r>
              <a:rPr lang="en-US" altLang="zh-TW" sz="2000" b="1">
                <a:solidFill>
                  <a:schemeClr val="accent2"/>
                </a:solidFill>
              </a:rPr>
              <a:t>75%</a:t>
            </a:r>
            <a:endParaRPr lang="en-US" altLang="zh-TW" sz="2000" b="1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zh-TW" altLang="en-US" sz="2000" b="1" dirty="0">
                <a:solidFill>
                  <a:schemeClr val="accent2"/>
                </a:solidFill>
              </a:rPr>
              <a:t>儀表</a:t>
            </a:r>
            <a:r>
              <a:rPr lang="zh-TW" altLang="en-US" sz="2000" b="1">
                <a:solidFill>
                  <a:schemeClr val="accent2"/>
                </a:solidFill>
              </a:rPr>
              <a:t>安裝 </a:t>
            </a:r>
            <a:r>
              <a:rPr lang="en-US" altLang="zh-TW" sz="2000" b="1">
                <a:solidFill>
                  <a:schemeClr val="accent2"/>
                </a:solidFill>
              </a:rPr>
              <a:t>92%</a:t>
            </a:r>
            <a:endParaRPr lang="en-US" altLang="zh-TW" sz="2000" b="1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zh-TW" altLang="en-US" sz="2000" b="1" dirty="0">
                <a:solidFill>
                  <a:schemeClr val="accent2"/>
                </a:solidFill>
              </a:rPr>
              <a:t>儀表結</a:t>
            </a:r>
            <a:r>
              <a:rPr lang="zh-TW" altLang="en-US" sz="2000" b="1">
                <a:solidFill>
                  <a:schemeClr val="accent2"/>
                </a:solidFill>
              </a:rPr>
              <a:t>線 </a:t>
            </a:r>
            <a:r>
              <a:rPr lang="en-US" altLang="zh-TW" sz="2000" b="1" dirty="0">
                <a:solidFill>
                  <a:schemeClr val="accent2"/>
                </a:solidFill>
              </a:rPr>
              <a:t>7</a:t>
            </a:r>
            <a:r>
              <a:rPr lang="en-US" altLang="zh-TW" sz="2000" b="1">
                <a:solidFill>
                  <a:schemeClr val="accent2"/>
                </a:solidFill>
              </a:rPr>
              <a:t>2</a:t>
            </a:r>
            <a:r>
              <a:rPr lang="en-US" altLang="zh-TW" sz="2000" b="1" dirty="0">
                <a:solidFill>
                  <a:schemeClr val="accent2"/>
                </a:solidFill>
              </a:rPr>
              <a:t>%</a:t>
            </a:r>
            <a:endParaRPr lang="en-US" altLang="zh-TW" sz="20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zh-TW" altLang="en-US" sz="2000" b="1" dirty="0">
                <a:solidFill>
                  <a:schemeClr val="tx2"/>
                </a:solidFill>
              </a:rPr>
              <a:t>總</a:t>
            </a:r>
            <a:r>
              <a:rPr lang="zh-TW" altLang="en-US" sz="2000" b="1">
                <a:solidFill>
                  <a:schemeClr val="tx2"/>
                </a:solidFill>
              </a:rPr>
              <a:t>進度 </a:t>
            </a:r>
            <a:r>
              <a:rPr lang="en-US" altLang="zh-TW" sz="2000" b="1">
                <a:solidFill>
                  <a:schemeClr val="tx2"/>
                </a:solidFill>
              </a:rPr>
              <a:t>87.7%</a:t>
            </a: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F51087B9-3063-8C37-407C-2AA26AD5EFAB}"/>
              </a:ext>
            </a:extLst>
          </p:cNvPr>
          <p:cNvGrpSpPr/>
          <p:nvPr/>
        </p:nvGrpSpPr>
        <p:grpSpPr>
          <a:xfrm>
            <a:off x="7242000" y="0"/>
            <a:ext cx="4950000" cy="6840000"/>
            <a:chOff x="7589075" y="466343"/>
            <a:chExt cx="4359275" cy="6022975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96D7A397-BC80-2DED-25E5-4A9E7B73C7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89075" y="466343"/>
              <a:ext cx="4359275" cy="4457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圖片 4">
              <a:extLst>
                <a:ext uri="{FF2B5EF4-FFF2-40B4-BE49-F238E27FC236}">
                  <a16:creationId xmlns:a16="http://schemas.microsoft.com/office/drawing/2014/main" id="{62C5A6E4-8F6F-BFAA-6FC7-F66790A027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89075" y="4924043"/>
              <a:ext cx="4359275" cy="1565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45915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FD618-90BE-B7D6-819E-1611B8750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AC037763-66CE-C081-DE62-6AD6BC9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466343"/>
            <a:ext cx="9628632" cy="1362113"/>
          </a:xfrm>
        </p:spPr>
        <p:txBody>
          <a:bodyPr>
            <a:normAutofit/>
          </a:bodyPr>
          <a:lstStyle/>
          <a:p>
            <a:r>
              <a:rPr lang="zh-TW" altLang="en-US" sz="3200" b="1" dirty="0"/>
              <a:t>法蘭摩沙－鎮寶、名湶、俊雄</a:t>
            </a: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BDEFFEB7-0315-B08B-2CDB-92C6935D2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0288" y="2221076"/>
            <a:ext cx="9926247" cy="44498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2000" b="1">
                <a:solidFill>
                  <a:schemeClr val="tx2"/>
                </a:solidFill>
              </a:rPr>
              <a:t>案場協調項目    </a:t>
            </a:r>
            <a:r>
              <a:rPr lang="en-US" altLang="zh-TW" sz="2000" b="1">
                <a:solidFill>
                  <a:schemeClr val="tx2"/>
                </a:solidFill>
              </a:rPr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000" b="1">
                <a:solidFill>
                  <a:schemeClr val="tx2"/>
                </a:solidFill>
              </a:rPr>
              <a:t>7 </a:t>
            </a:r>
            <a:r>
              <a:rPr lang="zh-TW" altLang="en-US" sz="2000" b="1">
                <a:solidFill>
                  <a:schemeClr val="tx2"/>
                </a:solidFill>
              </a:rPr>
              <a:t>月提供亞通管路組儀表無法安裝餘 </a:t>
            </a:r>
            <a:r>
              <a:rPr lang="en-US" altLang="zh-TW" sz="2000" b="1">
                <a:solidFill>
                  <a:schemeClr val="tx2"/>
                </a:solidFill>
              </a:rPr>
              <a:t>42 </a:t>
            </a:r>
            <a:r>
              <a:rPr lang="zh-TW" altLang="en-US" sz="2000" b="1">
                <a:solidFill>
                  <a:schemeClr val="tx2"/>
                </a:solidFill>
              </a:rPr>
              <a:t>處，持續修改中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000" b="1">
                <a:solidFill>
                  <a:schemeClr val="tx2"/>
                </a:solidFill>
              </a:rPr>
              <a:t>9/17 </a:t>
            </a:r>
            <a:r>
              <a:rPr lang="zh-TW" altLang="en-US" sz="2000" b="1">
                <a:solidFill>
                  <a:schemeClr val="tx2"/>
                </a:solidFill>
              </a:rPr>
              <a:t>亞通管路組提 </a:t>
            </a:r>
            <a:r>
              <a:rPr lang="en-US" altLang="zh-TW" sz="2000" b="1">
                <a:solidFill>
                  <a:schemeClr val="tx2"/>
                </a:solidFill>
              </a:rPr>
              <a:t>TIT</a:t>
            </a:r>
            <a:r>
              <a:rPr lang="zh-TW" altLang="en-US" sz="2000" b="1">
                <a:solidFill>
                  <a:schemeClr val="tx2"/>
                </a:solidFill>
              </a:rPr>
              <a:t>（溫度傳訊器）長度需內縮共計 </a:t>
            </a:r>
            <a:r>
              <a:rPr lang="en-US" altLang="zh-TW" sz="2000" b="1">
                <a:solidFill>
                  <a:schemeClr val="tx2"/>
                </a:solidFill>
              </a:rPr>
              <a:t>43 </a:t>
            </a:r>
            <a:r>
              <a:rPr lang="zh-TW" altLang="en-US" sz="2000" b="1">
                <a:solidFill>
                  <a:schemeClr val="tx2"/>
                </a:solidFill>
              </a:rPr>
              <a:t>顆須拆除已安裝儀表</a:t>
            </a:r>
          </a:p>
          <a:p>
            <a:pPr marL="0" indent="0">
              <a:buNone/>
            </a:pPr>
            <a:r>
              <a:rPr lang="zh-TW" altLang="en-US" sz="2000" b="1">
                <a:solidFill>
                  <a:schemeClr val="tx2"/>
                </a:solidFill>
              </a:rPr>
              <a:t>       （儀表完工日期順延尚未回覆日期）</a:t>
            </a:r>
            <a:endParaRPr lang="en-US" altLang="zh-TW" sz="2000" b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2549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4E1A27CA-4BAE-5BF5-65AB-EBA8BC0C1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579" y="466343"/>
            <a:ext cx="10348842" cy="1362113"/>
          </a:xfrm>
        </p:spPr>
        <p:txBody>
          <a:bodyPr>
            <a:normAutofit/>
          </a:bodyPr>
          <a:lstStyle/>
          <a:p>
            <a:pPr algn="ctr"/>
            <a:r>
              <a:rPr lang="zh-TW" altLang="en-US" sz="2600" b="1" dirty="0">
                <a:solidFill>
                  <a:schemeClr val="bg2"/>
                </a:solidFill>
              </a:rPr>
              <a:t>施工進度表</a:t>
            </a:r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0138F12A-9EF5-673D-5985-591D7276D600}"/>
              </a:ext>
            </a:extLst>
          </p:cNvPr>
          <p:cNvGrpSpPr/>
          <p:nvPr/>
        </p:nvGrpSpPr>
        <p:grpSpPr>
          <a:xfrm>
            <a:off x="0" y="2377096"/>
            <a:ext cx="12192000" cy="3918518"/>
            <a:chOff x="0" y="1828456"/>
            <a:chExt cx="12192000" cy="3918518"/>
          </a:xfrm>
        </p:grpSpPr>
        <p:pic>
          <p:nvPicPr>
            <p:cNvPr id="4" name="圖片 2">
              <a:extLst>
                <a:ext uri="{FF2B5EF4-FFF2-40B4-BE49-F238E27FC236}">
                  <a16:creationId xmlns:a16="http://schemas.microsoft.com/office/drawing/2014/main" id="{F7501C13-3918-922E-4CC7-2D3CEA8905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239639"/>
              <a:ext cx="5760000" cy="3096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箭號: 向右 7">
              <a:extLst>
                <a:ext uri="{FF2B5EF4-FFF2-40B4-BE49-F238E27FC236}">
                  <a16:creationId xmlns:a16="http://schemas.microsoft.com/office/drawing/2014/main" id="{D498976E-466E-53BB-114D-B15A29E14A7D}"/>
                </a:ext>
              </a:extLst>
            </p:cNvPr>
            <p:cNvSpPr/>
            <p:nvPr/>
          </p:nvSpPr>
          <p:spPr>
            <a:xfrm rot="10800000">
              <a:off x="5823099" y="3553715"/>
              <a:ext cx="540000" cy="468000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grpSp>
          <p:nvGrpSpPr>
            <p:cNvPr id="22" name="群組 21">
              <a:extLst>
                <a:ext uri="{FF2B5EF4-FFF2-40B4-BE49-F238E27FC236}">
                  <a16:creationId xmlns:a16="http://schemas.microsoft.com/office/drawing/2014/main" id="{1BFE5F83-EEAD-95CE-1E45-E7BA07A444C3}"/>
                </a:ext>
              </a:extLst>
            </p:cNvPr>
            <p:cNvGrpSpPr/>
            <p:nvPr/>
          </p:nvGrpSpPr>
          <p:grpSpPr>
            <a:xfrm>
              <a:off x="6426199" y="1828456"/>
              <a:ext cx="5765801" cy="3918518"/>
              <a:chOff x="6426199" y="1828456"/>
              <a:chExt cx="5765801" cy="3918518"/>
            </a:xfrm>
          </p:grpSpPr>
          <p:pic>
            <p:nvPicPr>
              <p:cNvPr id="11" name="圖片 4">
                <a:extLst>
                  <a:ext uri="{FF2B5EF4-FFF2-40B4-BE49-F238E27FC236}">
                    <a16:creationId xmlns:a16="http://schemas.microsoft.com/office/drawing/2014/main" id="{8B73659E-AF83-3A63-1A96-A8412FF7EC7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432000" y="1828456"/>
                <a:ext cx="5760000" cy="30485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21" name="群組 20">
                <a:extLst>
                  <a:ext uri="{FF2B5EF4-FFF2-40B4-BE49-F238E27FC236}">
                    <a16:creationId xmlns:a16="http://schemas.microsoft.com/office/drawing/2014/main" id="{88CB3AFD-C266-8C63-6BF8-A90D2A5B9BCB}"/>
                  </a:ext>
                </a:extLst>
              </p:cNvPr>
              <p:cNvGrpSpPr/>
              <p:nvPr/>
            </p:nvGrpSpPr>
            <p:grpSpPr>
              <a:xfrm>
                <a:off x="6426199" y="4877024"/>
                <a:ext cx="5760000" cy="869950"/>
                <a:chOff x="6426200" y="5453063"/>
                <a:chExt cx="7307263" cy="869950"/>
              </a:xfrm>
            </p:grpSpPr>
            <p:pic>
              <p:nvPicPr>
                <p:cNvPr id="13" name="圖片 8">
                  <a:extLst>
                    <a:ext uri="{FF2B5EF4-FFF2-40B4-BE49-F238E27FC236}">
                      <a16:creationId xmlns:a16="http://schemas.microsoft.com/office/drawing/2014/main" id="{11BB0265-CD56-9929-A4FD-EF1A54C7E95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426200" y="5467350"/>
                  <a:ext cx="3087688" cy="8556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6" name="圖片 10">
                  <a:extLst>
                    <a:ext uri="{FF2B5EF4-FFF2-40B4-BE49-F238E27FC236}">
                      <a16:creationId xmlns:a16="http://schemas.microsoft.com/office/drawing/2014/main" id="{2E31DFA0-6334-7B1D-1A51-6E5FC483019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513888" y="5453063"/>
                  <a:ext cx="4219575" cy="8540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7DDAF1F4-6B2A-5F9B-267D-74FFE8497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579" y="466343"/>
            <a:ext cx="10348842" cy="1362113"/>
          </a:xfrm>
        </p:spPr>
        <p:txBody>
          <a:bodyPr>
            <a:normAutofit/>
          </a:bodyPr>
          <a:lstStyle/>
          <a:p>
            <a:pPr algn="ctr"/>
            <a:r>
              <a:rPr lang="zh-TW" altLang="en-US" sz="2600" b="1" dirty="0">
                <a:solidFill>
                  <a:schemeClr val="bg2"/>
                </a:solidFill>
              </a:rPr>
              <a:t>儀表安裝、配管工程</a:t>
            </a:r>
          </a:p>
        </p:txBody>
      </p:sp>
      <p:pic>
        <p:nvPicPr>
          <p:cNvPr id="5" name="Picture 20484" descr="image.jpeg">
            <a:extLst>
              <a:ext uri="{FF2B5EF4-FFF2-40B4-BE49-F238E27FC236}">
                <a16:creationId xmlns:a16="http://schemas.microsoft.com/office/drawing/2014/main" id="{6AAA0CD1-5DE6-304B-CBDF-0A9916E6E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8209" y="1828800"/>
            <a:ext cx="2873514" cy="2155622"/>
          </a:xfrm>
          <a:prstGeom prst="rect">
            <a:avLst/>
          </a:prstGeom>
        </p:spPr>
      </p:pic>
      <p:pic>
        <p:nvPicPr>
          <p:cNvPr id="8" name="Picture 20485" descr="image.jpeg">
            <a:extLst>
              <a:ext uri="{FF2B5EF4-FFF2-40B4-BE49-F238E27FC236}">
                <a16:creationId xmlns:a16="http://schemas.microsoft.com/office/drawing/2014/main" id="{4C32EF2A-55AF-BEE5-4E6A-1CCCBD8C36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443" y="1828800"/>
            <a:ext cx="2873514" cy="2155622"/>
          </a:xfrm>
          <a:prstGeom prst="rect">
            <a:avLst/>
          </a:prstGeom>
        </p:spPr>
      </p:pic>
      <p:pic>
        <p:nvPicPr>
          <p:cNvPr id="10" name="Picture 20486" descr="image.jpeg">
            <a:extLst>
              <a:ext uri="{FF2B5EF4-FFF2-40B4-BE49-F238E27FC236}">
                <a16:creationId xmlns:a16="http://schemas.microsoft.com/office/drawing/2014/main" id="{5F147562-151D-BECD-D677-4097357AC1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6678" y="1828800"/>
            <a:ext cx="1617081" cy="2155622"/>
          </a:xfrm>
          <a:prstGeom prst="rect">
            <a:avLst/>
          </a:prstGeom>
        </p:spPr>
      </p:pic>
      <p:pic>
        <p:nvPicPr>
          <p:cNvPr id="13" name="Picture 20487" descr="image.jpeg">
            <a:extLst>
              <a:ext uri="{FF2B5EF4-FFF2-40B4-BE49-F238E27FC236}">
                <a16:creationId xmlns:a16="http://schemas.microsoft.com/office/drawing/2014/main" id="{66C007F3-4D50-3155-983A-60FC48FBA3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7157" y="4030142"/>
            <a:ext cx="3695967" cy="2772601"/>
          </a:xfrm>
          <a:prstGeom prst="rect">
            <a:avLst/>
          </a:prstGeom>
        </p:spPr>
      </p:pic>
      <p:pic>
        <p:nvPicPr>
          <p:cNvPr id="16" name="Picture 20488" descr="image.jpeg">
            <a:extLst>
              <a:ext uri="{FF2B5EF4-FFF2-40B4-BE49-F238E27FC236}">
                <a16:creationId xmlns:a16="http://schemas.microsoft.com/office/drawing/2014/main" id="{852FBEA8-859A-B029-6DB7-D08CB7C047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8844" y="4030142"/>
            <a:ext cx="3695967" cy="27726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0F731-6E68-D353-D89B-DD3B1663A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5925AF9F-090F-FE1D-3ABE-EF9E9CCEE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579" y="466343"/>
            <a:ext cx="10348842" cy="1362113"/>
          </a:xfrm>
        </p:spPr>
        <p:txBody>
          <a:bodyPr>
            <a:normAutofit/>
          </a:bodyPr>
          <a:lstStyle/>
          <a:p>
            <a:pPr algn="ctr"/>
            <a:r>
              <a:rPr lang="zh-TW" altLang="en-US" sz="2600" b="1" dirty="0">
                <a:solidFill>
                  <a:schemeClr val="bg2"/>
                </a:solidFill>
              </a:rPr>
              <a:t>儀表安裝、配管工程</a:t>
            </a:r>
          </a:p>
        </p:txBody>
      </p:sp>
      <p:pic>
        <p:nvPicPr>
          <p:cNvPr id="5" name="Picture 22532" descr="image.jpeg">
            <a:extLst>
              <a:ext uri="{FF2B5EF4-FFF2-40B4-BE49-F238E27FC236}">
                <a16:creationId xmlns:a16="http://schemas.microsoft.com/office/drawing/2014/main" id="{5350B103-4DC5-5D80-6C3F-B6DDF8E27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5" y="1828800"/>
            <a:ext cx="3278639" cy="2459534"/>
          </a:xfrm>
          <a:prstGeom prst="rect">
            <a:avLst/>
          </a:prstGeom>
        </p:spPr>
      </p:pic>
      <p:pic>
        <p:nvPicPr>
          <p:cNvPr id="8" name="Picture 22533" descr="image.jpeg">
            <a:extLst>
              <a:ext uri="{FF2B5EF4-FFF2-40B4-BE49-F238E27FC236}">
                <a16:creationId xmlns:a16="http://schemas.microsoft.com/office/drawing/2014/main" id="{9F665DFF-4093-5C3E-6159-452B7CF272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6664" y="1828800"/>
            <a:ext cx="3278639" cy="2459534"/>
          </a:xfrm>
          <a:prstGeom prst="rect">
            <a:avLst/>
          </a:prstGeom>
        </p:spPr>
      </p:pic>
      <p:pic>
        <p:nvPicPr>
          <p:cNvPr id="11" name="Picture 22534" descr="image.jpeg">
            <a:extLst>
              <a:ext uri="{FF2B5EF4-FFF2-40B4-BE49-F238E27FC236}">
                <a16:creationId xmlns:a16="http://schemas.microsoft.com/office/drawing/2014/main" id="{D92A0367-B4A6-C940-39DB-77036DE78A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1024" y="1828800"/>
            <a:ext cx="3278639" cy="2459534"/>
          </a:xfrm>
          <a:prstGeom prst="rect">
            <a:avLst/>
          </a:prstGeom>
        </p:spPr>
      </p:pic>
      <p:pic>
        <p:nvPicPr>
          <p:cNvPr id="14" name="Picture 22535" descr="image.jpeg">
            <a:extLst>
              <a:ext uri="{FF2B5EF4-FFF2-40B4-BE49-F238E27FC236}">
                <a16:creationId xmlns:a16="http://schemas.microsoft.com/office/drawing/2014/main" id="{922CD0B7-BC43-3124-B5A4-8C2190B449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2305" y="4334054"/>
            <a:ext cx="3278393" cy="2459349"/>
          </a:xfrm>
          <a:prstGeom prst="rect">
            <a:avLst/>
          </a:prstGeom>
        </p:spPr>
      </p:pic>
      <p:pic>
        <p:nvPicPr>
          <p:cNvPr id="16" name="Picture 22536" descr="image.jpeg">
            <a:extLst>
              <a:ext uri="{FF2B5EF4-FFF2-40B4-BE49-F238E27FC236}">
                <a16:creationId xmlns:a16="http://schemas.microsoft.com/office/drawing/2014/main" id="{80299600-D08F-3AF7-274B-7D8B9CE1B1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6418" y="4334054"/>
            <a:ext cx="3279132" cy="2459349"/>
          </a:xfrm>
          <a:prstGeom prst="rect">
            <a:avLst/>
          </a:prstGeom>
        </p:spPr>
      </p:pic>
      <p:pic>
        <p:nvPicPr>
          <p:cNvPr id="19" name="Picture 22537" descr="image.jpeg">
            <a:extLst>
              <a:ext uri="{FF2B5EF4-FFF2-40B4-BE49-F238E27FC236}">
                <a16:creationId xmlns:a16="http://schemas.microsoft.com/office/drawing/2014/main" id="{D5F588EB-9CE2-588A-8CC1-4178D91FA9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81271" y="4334054"/>
            <a:ext cx="3278393" cy="2459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787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教育類主題 16x9">
  <a:themeElements>
    <a:clrScheme name="自訂 1">
      <a:dk1>
        <a:srgbClr val="1F497D"/>
      </a:dk1>
      <a:lt1>
        <a:srgbClr val="EEECE1"/>
      </a:lt1>
      <a:dk2>
        <a:srgbClr val="1F497D"/>
      </a:dk2>
      <a:lt2>
        <a:srgbClr val="DBE5F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0525322_TF03462902_TF03462902.potx" id="{75934AA0-EA7E-48C9-AC6C-B8776C9980C1}" vid="{F712579A-141C-4177-A05B-4907AD265093}"/>
    </a:ext>
  </a:extLst>
</a:theme>
</file>

<file path=ppt/theme/theme2.xml><?xml version="1.0" encoding="utf-8"?>
<a:theme xmlns:a="http://schemas.openxmlformats.org/drawingml/2006/main" name="Office 佈景主題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教育類主題簡報：黑板手繪設計 (寬螢幕)</Template>
  <TotalTime>23500</TotalTime>
  <Words>363</Words>
  <Application>Microsoft Office PowerPoint</Application>
  <PresentationFormat>寬螢幕</PresentationFormat>
  <Paragraphs>47</Paragraphs>
  <Slides>12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6" baseType="lpstr">
      <vt:lpstr>Microsoft JhengHei UI</vt:lpstr>
      <vt:lpstr>微軟正黑體</vt:lpstr>
      <vt:lpstr>Wingdings</vt:lpstr>
      <vt:lpstr>教育類主題 16x9</vt:lpstr>
      <vt:lpstr>PowerPoint 簡報</vt:lpstr>
      <vt:lpstr>兆豐銀行－宏明</vt:lpstr>
      <vt:lpstr>兆豐銀行－宏明</vt:lpstr>
      <vt:lpstr>模組安裝</vt:lpstr>
      <vt:lpstr>支架鎖固</vt:lpstr>
      <vt:lpstr>螢幕、ACP箱體</vt:lpstr>
      <vt:lpstr>台以八翁－宏明</vt:lpstr>
      <vt:lpstr>法蘭摩沙－鎮寶、名湶、俊雄</vt:lpstr>
      <vt:lpstr>法蘭摩沙－鎮寶、名湶、俊雄</vt:lpstr>
      <vt:lpstr>施工進度表</vt:lpstr>
      <vt:lpstr>儀表安裝、配管工程</vt:lpstr>
      <vt:lpstr>儀表安裝、配管工程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工程部週會 會議記錄</dc:title>
  <dc:creator>user</dc:creator>
  <cp:lastModifiedBy>User6</cp:lastModifiedBy>
  <cp:revision>1596</cp:revision>
  <dcterms:created xsi:type="dcterms:W3CDTF">2024-09-06T09:16:56Z</dcterms:created>
  <dcterms:modified xsi:type="dcterms:W3CDTF">2026-09-18T06:51:00Z</dcterms:modified>
</cp:coreProperties>
</file>
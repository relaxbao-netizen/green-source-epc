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4" r:id="rId2"/>
    <p:sldId id="616" r:id="rId3"/>
    <p:sldId id="676" r:id="rId4"/>
    <p:sldId id="703" r:id="rId5"/>
    <p:sldId id="704" r:id="rId6"/>
    <p:sldId id="678" r:id="rId7"/>
    <p:sldId id="328" r:id="rId8"/>
    <p:sldId id="327" r:id="rId9"/>
    <p:sldId id="679" r:id="rId10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6041" autoAdjust="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280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62E987-7EBA-43A6-9FB1-518ACC0C0016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2026/9/11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977E94-A6AB-4E02-8E43-E89F9CF4757F}" type="slidenum"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1CB75E-0C48-4433-BA77-C1F21AF9D86A}" type="datetime1">
              <a:rPr lang="zh-TW" altLang="en-US" smtClean="0"/>
              <a:pPr/>
              <a:t>2026/9/11</a:t>
            </a:fld>
            <a:endParaRPr lang="zh-TW" altLang="en-US" dirty="0"/>
          </a:p>
        </p:txBody>
      </p:sp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ED491D0-8E1B-49C7-849B-A28568D94497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>
            <a:extLst>
              <a:ext uri="{FF2B5EF4-FFF2-40B4-BE49-F238E27FC236}">
                <a16:creationId xmlns:a16="http://schemas.microsoft.com/office/drawing/2014/main" id="{3A164D86-336A-2349-15E8-4207643B70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>
            <a:extLst>
              <a:ext uri="{FF2B5EF4-FFF2-40B4-BE49-F238E27FC236}">
                <a16:creationId xmlns:a16="http://schemas.microsoft.com/office/drawing/2014/main" id="{29D28226-2CF5-2647-2375-67D263B7B7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9460" name="投影片編號版面配置區 3">
            <a:extLst>
              <a:ext uri="{FF2B5EF4-FFF2-40B4-BE49-F238E27FC236}">
                <a16:creationId xmlns:a16="http://schemas.microsoft.com/office/drawing/2014/main" id="{D5876671-0B37-C563-CA3E-398DC9924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21C9B475-2160-4D0D-B775-07063B412602}" type="slidenum">
              <a:rPr lang="en-US" altLang="zh-TW" smtClean="0"/>
              <a:pPr>
                <a:spcBef>
                  <a:spcPct val="0"/>
                </a:spcBef>
              </a:pPr>
              <a:t>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圖像版面配置區 1">
            <a:extLst>
              <a:ext uri="{FF2B5EF4-FFF2-40B4-BE49-F238E27FC236}">
                <a16:creationId xmlns:a16="http://schemas.microsoft.com/office/drawing/2014/main" id="{1DFA54ED-9443-1B83-0F92-9DC9AB0170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備忘稿版面配置區 2">
            <a:extLst>
              <a:ext uri="{FF2B5EF4-FFF2-40B4-BE49-F238E27FC236}">
                <a16:creationId xmlns:a16="http://schemas.microsoft.com/office/drawing/2014/main" id="{E8F59BBA-20E8-46D8-4764-D68638318D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D7EA43F0-7543-F5BA-532C-570241F1A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FC8E487D-7FE8-4124-8EF2-195F370BB4A2}" type="slidenum">
              <a:rPr lang="en-US" altLang="zh-TW" smtClean="0"/>
              <a:pPr>
                <a:spcBef>
                  <a:spcPct val="0"/>
                </a:spcBef>
              </a:pPr>
              <a:t>8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F629-3B2C-992D-D491-E7F4005FE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圖像版面配置區 1">
            <a:extLst>
              <a:ext uri="{FF2B5EF4-FFF2-40B4-BE49-F238E27FC236}">
                <a16:creationId xmlns:a16="http://schemas.microsoft.com/office/drawing/2014/main" id="{E4E1B9BE-0410-E7A1-9C18-170549D3E9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備忘稿版面配置區 2">
            <a:extLst>
              <a:ext uri="{FF2B5EF4-FFF2-40B4-BE49-F238E27FC236}">
                <a16:creationId xmlns:a16="http://schemas.microsoft.com/office/drawing/2014/main" id="{359DCC97-E18A-2931-DCC4-34750E7653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C783766B-9FC4-DDB0-B1FF-030952548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FC8E487D-7FE8-4124-8EF2-195F370BB4A2}" type="slidenum">
              <a:rPr lang="en-US" altLang="zh-TW" smtClean="0"/>
              <a:pPr>
                <a:spcBef>
                  <a:spcPct val="0"/>
                </a:spcBef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8573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rtlCol="0"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1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D869B4D-421E-43A3-BBAA-8CCFA957A67D}" type="datetime1">
              <a:rPr lang="zh-TW" altLang="en-US" smtClean="0"/>
              <a:t>2026/9/11</a:t>
            </a:fld>
            <a:endParaRPr lang="zh-TW" altLang="en-US" dirty="0"/>
          </a:p>
        </p:txBody>
      </p:sp>
      <p:sp>
        <p:nvSpPr>
          <p:cNvPr id="12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13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2C5D44-5C85-485C-A00E-3A215B865BFF}" type="datetime1">
              <a:rPr lang="zh-TW" altLang="en-US" smtClean="0"/>
              <a:t>2026/9/11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 rtlCol="0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A14740C-1CD2-4B76-9AEA-8BECFA354BC5}" type="datetime1">
              <a:rPr lang="zh-TW" altLang="en-US" smtClean="0"/>
              <a:t>2026/9/11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4F1B4F-4B27-41CF-A46C-C0E416EBA6A3}" type="datetime1">
              <a:rPr lang="zh-TW" altLang="en-US" smtClean="0"/>
              <a:t>2026/9/11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日期預留位置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F5A7E8-AC39-4209-B53D-28B070EB2637}" type="datetime1">
              <a:rPr lang="zh-TW" altLang="en-US" smtClean="0"/>
              <a:t>2026/9/11</a:t>
            </a:fld>
            <a:endParaRPr lang="zh-TW" altLang="en-US" dirty="0"/>
          </a:p>
        </p:txBody>
      </p:sp>
      <p:sp>
        <p:nvSpPr>
          <p:cNvPr id="8" name="頁尾預留位置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A37D3-65DB-46B6-81BC-43363DB4BC67}" type="datetime1">
              <a:rPr lang="zh-TW" altLang="en-US" smtClean="0"/>
              <a:t>2026/9/11</a:t>
            </a:fld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63B5AA-F24B-482A-91F0-C543E9D06BFE}" type="datetime1">
              <a:rPr lang="zh-TW" altLang="en-US" smtClean="0"/>
              <a:t>2026/9/11</a:t>
            </a:fld>
            <a:endParaRPr lang="zh-TW" altLang="en-US" dirty="0"/>
          </a:p>
        </p:txBody>
      </p:sp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 rtlCol="0"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內容預留位置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 rtlCol="0"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26CB77-6226-4325-8851-4C25870E44A4}" type="datetime1">
              <a:rPr lang="zh-TW" altLang="en-US" smtClean="0"/>
              <a:t>2026/9/11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圖片預留位置 2" descr="要新增影像的空白預留位置。按一下預留位置，然後選取您要新增的影像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02A5DE-81A3-4C0F-B253-6B97355A8EFB}" type="datetime1">
              <a:rPr lang="zh-TW" altLang="en-US" smtClean="0"/>
              <a:t>2026/9/11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B3D213-BE9F-47D9-B14D-790FF4D46DDE}" type="datetime1">
              <a:rPr lang="zh-TW" altLang="en-US" smtClean="0"/>
              <a:t>2026/9/11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vert"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 rtlCol="0"/>
          <a:lstStyle/>
          <a:p>
            <a:pPr rtl="0"/>
            <a:fld id="{5E5D3233-A6CF-47E7-8A67-907069E6709A}" type="datetime1">
              <a:rPr lang="zh-TW" altLang="en-US" smtClean="0"/>
              <a:t>2026/9/11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標題預留位置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  <a:p>
            <a:pPr lvl="5" rtl="0"/>
            <a:r>
              <a:rPr lang="zh-TW" altLang="en-US" dirty="0"/>
              <a:t>第六</a:t>
            </a:r>
          </a:p>
          <a:p>
            <a:pPr lvl="6" rtl="0"/>
            <a:r>
              <a:rPr lang="zh-TW" altLang="en-US" dirty="0"/>
              <a:t>第七</a:t>
            </a:r>
          </a:p>
          <a:p>
            <a:pPr lvl="7" rtl="0"/>
            <a:r>
              <a:rPr lang="zh-TW" altLang="en-US" dirty="0"/>
              <a:t>第八</a:t>
            </a:r>
          </a:p>
          <a:p>
            <a:pPr lvl="8" rtl="0"/>
            <a:r>
              <a:rPr lang="zh-TW" altLang="en-US" dirty="0"/>
              <a:t>第九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52E09C-297D-4B4B-9D8E-547194E495B4}" type="datetime1">
              <a:rPr lang="zh-TW" altLang="en-US" smtClean="0"/>
              <a:t>2026/9/11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03813" y="1298089"/>
            <a:ext cx="44165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000" b="1" spc="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工程部週報</a:t>
            </a:r>
          </a:p>
        </p:txBody>
      </p:sp>
      <p:sp>
        <p:nvSpPr>
          <p:cNvPr id="4" name="矩形 3"/>
          <p:cNvSpPr/>
          <p:nvPr/>
        </p:nvSpPr>
        <p:spPr>
          <a:xfrm>
            <a:off x="261270" y="2612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b="1" spc="3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綠源科技股份有限公司</a:t>
            </a:r>
          </a:p>
          <a:p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Green Source Technology</a:t>
            </a:r>
          </a:p>
        </p:txBody>
      </p:sp>
      <p:sp>
        <p:nvSpPr>
          <p:cNvPr id="5" name="矩形 4"/>
          <p:cNvSpPr/>
          <p:nvPr/>
        </p:nvSpPr>
        <p:spPr>
          <a:xfrm>
            <a:off x="4031440" y="2397642"/>
            <a:ext cx="39613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2026/09/07</a:t>
            </a:r>
            <a:r>
              <a:rPr lang="zh-TW" altLang="en-US" sz="2400" b="1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2026/09/11</a:t>
            </a:r>
          </a:p>
        </p:txBody>
      </p:sp>
    </p:spTree>
    <p:extLst>
      <p:ext uri="{BB962C8B-B14F-4D97-AF65-F5344CB8AC3E}">
        <p14:creationId xmlns:p14="http://schemas.microsoft.com/office/powerpoint/2010/main" val="3565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0215-33A6-9C18-4F2E-C5927E9F5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0FFCDB3-D4F1-F77F-7453-B75037DD3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工程事項：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支架組裝 </a:t>
            </a:r>
            <a:r>
              <a:rPr lang="en-US" altLang="zh-TW" sz="2000" b="1" dirty="0"/>
              <a:t>26%</a:t>
            </a:r>
            <a:r>
              <a:rPr lang="zh-TW" altLang="en-US" sz="2000" b="1" dirty="0"/>
              <a:t>（鋼構鏽點除鏽、清潔、上高鋅漆兩層 完成 </a:t>
            </a:r>
            <a:r>
              <a:rPr lang="en-US" altLang="zh-TW" sz="2000" b="1" dirty="0"/>
              <a:t>50%</a:t>
            </a:r>
            <a:r>
              <a:rPr lang="zh-TW" altLang="en-US" sz="2000" b="1" dirty="0"/>
              <a:t>）</a:t>
            </a:r>
            <a:endParaRPr lang="en-US" altLang="zh-TW" sz="2000" b="1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模組安裝 </a:t>
            </a:r>
            <a:r>
              <a:rPr lang="en-US" altLang="zh-TW" sz="2000" b="1" dirty="0"/>
              <a:t>26%</a:t>
            </a:r>
            <a:r>
              <a:rPr lang="zh-TW" altLang="en-US" sz="2000" b="1" dirty="0"/>
              <a:t>（模組板上棚架 </a:t>
            </a:r>
            <a:r>
              <a:rPr lang="en-US" altLang="zh-TW" sz="2000" b="1" dirty="0"/>
              <a:t>130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/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414</a:t>
            </a:r>
            <a:r>
              <a:rPr lang="zh-TW" altLang="en-US" sz="2000" b="1" dirty="0"/>
              <a:t>、模組螺絲定磅 </a:t>
            </a:r>
            <a:r>
              <a:rPr lang="en-US" altLang="zh-TW" sz="2000" b="1" dirty="0"/>
              <a:t>0%</a:t>
            </a:r>
            <a:r>
              <a:rPr lang="zh-TW" altLang="en-US" sz="2000" b="1" dirty="0"/>
              <a:t>、吊掛進料完成）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變流器安裝 </a:t>
            </a:r>
            <a:r>
              <a:rPr lang="en-US" altLang="zh-TW" sz="2000" b="1" dirty="0"/>
              <a:t>90%</a:t>
            </a:r>
            <a:r>
              <a:rPr lang="zh-TW" altLang="en-US" sz="2000" b="1" dirty="0"/>
              <a:t>（安裝固定完成尚未結線測試）</a:t>
            </a:r>
            <a:endParaRPr lang="en-US" altLang="zh-TW" sz="2000" b="1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儲能櫃安裝 </a:t>
            </a:r>
            <a:r>
              <a:rPr lang="en-US" altLang="zh-TW" sz="2000" b="1" dirty="0"/>
              <a:t>10%</a:t>
            </a:r>
          </a:p>
          <a:p>
            <a:pPr marL="0" indent="0">
              <a:buNone/>
            </a:pPr>
            <a:r>
              <a:rPr lang="zh-TW" altLang="en-US" sz="2000" b="1" dirty="0"/>
              <a:t>       （吊掛進料完成、監控拉線測試 </a:t>
            </a:r>
            <a:r>
              <a:rPr lang="en-US" altLang="zh-TW" sz="2000" b="1" dirty="0"/>
              <a:t>0%</a:t>
            </a:r>
            <a:r>
              <a:rPr lang="zh-TW" altLang="en-US" sz="2000" b="1" dirty="0"/>
              <a:t>、電纜接線 </a:t>
            </a:r>
            <a:r>
              <a:rPr lang="en-US" altLang="zh-TW" sz="2000" b="1" dirty="0"/>
              <a:t>0%</a:t>
            </a:r>
            <a:r>
              <a:rPr lang="zh-TW" altLang="en-US" sz="2000" b="1" dirty="0"/>
              <a:t>、充放電測試 </a:t>
            </a:r>
            <a:r>
              <a:rPr lang="en-US" altLang="zh-TW" sz="2000" b="1" dirty="0"/>
              <a:t>0%</a:t>
            </a:r>
            <a:r>
              <a:rPr lang="zh-TW" altLang="en-US" sz="2000" b="1" dirty="0"/>
              <a:t>）</a:t>
            </a:r>
            <a:endParaRPr lang="en-US" altLang="zh-TW" sz="2000" b="1" dirty="0"/>
          </a:p>
          <a:p>
            <a:pPr marL="0" indent="0">
              <a:spcBef>
                <a:spcPts val="500"/>
              </a:spcBef>
              <a:buNone/>
            </a:pPr>
            <a:endParaRPr lang="en-US" altLang="zh-TW" sz="2000" b="1" dirty="0"/>
          </a:p>
          <a:p>
            <a:r>
              <a:rPr lang="zh-TW" altLang="en-US" sz="2000" b="1" dirty="0"/>
              <a:t>追蹤事項：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追蹤後續監控螢幕、</a:t>
            </a:r>
            <a:r>
              <a:rPr lang="en-US" altLang="zh-TW" sz="2000" b="1" dirty="0"/>
              <a:t>AC</a:t>
            </a:r>
            <a:r>
              <a:rPr lang="zh-TW" altLang="en-US" sz="2000" b="1" dirty="0"/>
              <a:t> 盤體 </a:t>
            </a:r>
            <a:r>
              <a:rPr lang="en-US" altLang="zh-TW" sz="2000" b="1" dirty="0"/>
              <a:t>…</a:t>
            </a:r>
            <a:r>
              <a:rPr lang="zh-TW" altLang="en-US" sz="2000" b="1" dirty="0"/>
              <a:t> 等物料進場及施工人員進場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1AD1E3EE-06EA-647D-8404-E986455E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兆豐銀行－宏明</a:t>
            </a:r>
          </a:p>
        </p:txBody>
      </p:sp>
    </p:spTree>
    <p:extLst>
      <p:ext uri="{BB962C8B-B14F-4D97-AF65-F5344CB8AC3E}">
        <p14:creationId xmlns:p14="http://schemas.microsoft.com/office/powerpoint/2010/main" val="188184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AE2C-7421-5743-294D-C949DDCE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C875D14-C1BB-A698-D24A-B4FD96D2C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模組安裝</a:t>
            </a:r>
          </a:p>
        </p:txBody>
      </p:sp>
      <p:pic>
        <p:nvPicPr>
          <p:cNvPr id="3" name="Picture 17411" descr="image.jpeg">
            <a:extLst>
              <a:ext uri="{FF2B5EF4-FFF2-40B4-BE49-F238E27FC236}">
                <a16:creationId xmlns:a16="http://schemas.microsoft.com/office/drawing/2014/main" id="{C7995E58-C4D5-70E5-F22D-04F1F2986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3916"/>
            <a:ext cx="4033509" cy="3025815"/>
          </a:xfrm>
          <a:prstGeom prst="rect">
            <a:avLst/>
          </a:prstGeom>
        </p:spPr>
      </p:pic>
      <p:pic>
        <p:nvPicPr>
          <p:cNvPr id="7" name="Picture 17412" descr="image.jpeg">
            <a:extLst>
              <a:ext uri="{FF2B5EF4-FFF2-40B4-BE49-F238E27FC236}">
                <a16:creationId xmlns:a16="http://schemas.microsoft.com/office/drawing/2014/main" id="{684C2311-680F-6295-44C9-643243BA5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229" y="2793916"/>
            <a:ext cx="4033509" cy="3025815"/>
          </a:xfrm>
          <a:prstGeom prst="rect">
            <a:avLst/>
          </a:prstGeom>
        </p:spPr>
      </p:pic>
      <p:pic>
        <p:nvPicPr>
          <p:cNvPr id="10" name="Picture 17413" descr="image.jpeg">
            <a:extLst>
              <a:ext uri="{FF2B5EF4-FFF2-40B4-BE49-F238E27FC236}">
                <a16:creationId xmlns:a16="http://schemas.microsoft.com/office/drawing/2014/main" id="{47AB2708-623D-E782-EE69-A0A3ACDBD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459" y="2793916"/>
            <a:ext cx="4033509" cy="302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9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CE08-C134-6EFB-165E-1DA5644CA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5518757-B19E-D059-B123-AE3DB948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螢幕、</a:t>
            </a:r>
            <a:r>
              <a:rPr lang="en-US" altLang="zh-TW" sz="2600" b="1" dirty="0">
                <a:solidFill>
                  <a:schemeClr val="bg2"/>
                </a:solidFill>
              </a:rPr>
              <a:t>ACP</a:t>
            </a:r>
            <a:r>
              <a:rPr lang="zh-TW" altLang="en-US" sz="2600" b="1" dirty="0">
                <a:solidFill>
                  <a:schemeClr val="bg2"/>
                </a:solidFill>
              </a:rPr>
              <a:t>箱體</a:t>
            </a:r>
          </a:p>
        </p:txBody>
      </p:sp>
      <p:pic>
        <p:nvPicPr>
          <p:cNvPr id="3" name="Picture 19459" descr="image.jpeg">
            <a:extLst>
              <a:ext uri="{FF2B5EF4-FFF2-40B4-BE49-F238E27FC236}">
                <a16:creationId xmlns:a16="http://schemas.microsoft.com/office/drawing/2014/main" id="{09FA95C1-4454-EAF1-0330-53CA33FBA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685" y="1828800"/>
            <a:ext cx="2291053" cy="4956048"/>
          </a:xfrm>
          <a:prstGeom prst="rect">
            <a:avLst/>
          </a:prstGeom>
        </p:spPr>
      </p:pic>
      <p:pic>
        <p:nvPicPr>
          <p:cNvPr id="5" name="Picture 19460" descr="image.jpeg">
            <a:extLst>
              <a:ext uri="{FF2B5EF4-FFF2-40B4-BE49-F238E27FC236}">
                <a16:creationId xmlns:a16="http://schemas.microsoft.com/office/drawing/2014/main" id="{13D17D06-A1E1-4675-1348-26DC8C84A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458" y="1828800"/>
            <a:ext cx="2291053" cy="4956048"/>
          </a:xfrm>
          <a:prstGeom prst="rect">
            <a:avLst/>
          </a:prstGeom>
        </p:spPr>
      </p:pic>
      <p:pic>
        <p:nvPicPr>
          <p:cNvPr id="8" name="Picture 19461" descr="image.jpeg">
            <a:extLst>
              <a:ext uri="{FF2B5EF4-FFF2-40B4-BE49-F238E27FC236}">
                <a16:creationId xmlns:a16="http://schemas.microsoft.com/office/drawing/2014/main" id="{B8074AF1-6731-336C-37E4-C82C33BA9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231" y="1828800"/>
            <a:ext cx="2291053" cy="495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54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D10B-915E-19EE-E930-DA15BB96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EAACB028-F1B5-DDC2-C82E-3A33120DD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工程事項：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dirty="0"/>
              <a:t>9/2 </a:t>
            </a:r>
            <a:r>
              <a:rPr lang="zh-TW" altLang="en-US" sz="2000" b="1" dirty="0"/>
              <a:t>辦公室漏水，貼鋁箔膠帶</a:t>
            </a:r>
            <a:endParaRPr lang="en-US" altLang="zh-TW" sz="2000" b="1" dirty="0"/>
          </a:p>
          <a:p>
            <a:pPr marL="0" indent="0">
              <a:spcBef>
                <a:spcPts val="500"/>
              </a:spcBef>
              <a:buNone/>
            </a:pPr>
            <a:endParaRPr lang="en-US" altLang="zh-TW" sz="2000" b="1" dirty="0"/>
          </a:p>
          <a:p>
            <a:r>
              <a:rPr lang="zh-TW" altLang="en-US" sz="2000" b="1" dirty="0"/>
              <a:t>追蹤事項：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漏水 </a:t>
            </a:r>
            <a:r>
              <a:rPr lang="en-US" altLang="zh-TW" sz="2000" b="1" dirty="0"/>
              <a:t>8/25 </a:t>
            </a:r>
            <a:r>
              <a:rPr lang="zh-TW" altLang="en-US" sz="2000" b="1" dirty="0"/>
              <a:t>提報、施工工法及工序建議，內部審核中</a:t>
            </a:r>
            <a:r>
              <a:rPr lang="zh-TW" altLang="en-US" sz="2000" b="1" dirty="0">
                <a:solidFill>
                  <a:schemeClr val="accent2"/>
                </a:solidFill>
              </a:rPr>
              <a:t>（第 </a:t>
            </a:r>
            <a:r>
              <a:rPr lang="en-US" altLang="zh-TW" sz="2000" b="1" dirty="0">
                <a:solidFill>
                  <a:schemeClr val="accent2"/>
                </a:solidFill>
              </a:rPr>
              <a:t>16 </a:t>
            </a:r>
            <a:r>
              <a:rPr lang="zh-TW" altLang="en-US" sz="2000" b="1" dirty="0">
                <a:solidFill>
                  <a:schemeClr val="accent2"/>
                </a:solidFill>
              </a:rPr>
              <a:t>天）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CCB153B-A8E7-DA53-F2F7-CC7C49F9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台以八翁－宏明</a:t>
            </a:r>
          </a:p>
        </p:txBody>
      </p:sp>
    </p:spTree>
    <p:extLst>
      <p:ext uri="{BB962C8B-B14F-4D97-AF65-F5344CB8AC3E}">
        <p14:creationId xmlns:p14="http://schemas.microsoft.com/office/powerpoint/2010/main" val="273387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4E1CE-E971-164F-79AC-12F74E6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AAF4213-7FA8-F509-5DB5-EA5CE4C6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法蘭摩沙－鎮寶、名湶、俊雄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78ADBE2B-7991-4C61-4FFC-87F4B6806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8" y="2221076"/>
            <a:ext cx="9926247" cy="4449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 dirty="0">
                <a:solidFill>
                  <a:schemeClr val="accent2"/>
                </a:solidFill>
              </a:rPr>
              <a:t>F</a:t>
            </a:r>
            <a:r>
              <a:rPr lang="zh-TW" altLang="en-US" sz="2000" b="1" dirty="0">
                <a:solidFill>
                  <a:schemeClr val="accent2"/>
                </a:solidFill>
              </a:rPr>
              <a:t> 區配管進度 </a:t>
            </a:r>
            <a:r>
              <a:rPr lang="en-US" altLang="zh-TW" sz="2000" b="1" dirty="0">
                <a:solidFill>
                  <a:schemeClr val="accent2"/>
                </a:solidFill>
              </a:rPr>
              <a:t>100%</a:t>
            </a: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拉線進度 </a:t>
            </a:r>
            <a:r>
              <a:rPr lang="en-US" altLang="zh-TW" sz="2000" b="1" dirty="0">
                <a:solidFill>
                  <a:schemeClr val="accent2"/>
                </a:solidFill>
              </a:rPr>
              <a:t>91%</a:t>
            </a: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絕緣導通測試 </a:t>
            </a:r>
            <a:r>
              <a:rPr lang="en-US" altLang="zh-TW" sz="2000" b="1" dirty="0">
                <a:solidFill>
                  <a:schemeClr val="accent2"/>
                </a:solidFill>
              </a:rPr>
              <a:t>70%</a:t>
            </a: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儀表安裝 </a:t>
            </a:r>
            <a:r>
              <a:rPr lang="en-US" altLang="zh-TW" sz="2000" b="1" dirty="0">
                <a:solidFill>
                  <a:schemeClr val="accent2"/>
                </a:solidFill>
              </a:rPr>
              <a:t>91%</a:t>
            </a: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儀表結線 </a:t>
            </a:r>
            <a:r>
              <a:rPr lang="en-US" altLang="zh-TW" sz="2000" b="1" dirty="0">
                <a:solidFill>
                  <a:schemeClr val="accent2"/>
                </a:solidFill>
              </a:rPr>
              <a:t>62%</a:t>
            </a:r>
            <a:endParaRPr lang="en-US" altLang="zh-TW"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tx2"/>
                </a:solidFill>
              </a:rPr>
              <a:t>總進度 </a:t>
            </a:r>
            <a:r>
              <a:rPr lang="en-US" altLang="zh-TW" sz="2000" b="1" dirty="0">
                <a:solidFill>
                  <a:schemeClr val="tx2"/>
                </a:solidFill>
              </a:rPr>
              <a:t>87.1%</a:t>
            </a:r>
          </a:p>
        </p:txBody>
      </p:sp>
    </p:spTree>
    <p:extLst>
      <p:ext uri="{BB962C8B-B14F-4D97-AF65-F5344CB8AC3E}">
        <p14:creationId xmlns:p14="http://schemas.microsoft.com/office/powerpoint/2010/main" val="44591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E1A27CA-4BAE-5BF5-65AB-EBA8BC0C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施工進度表</a:t>
            </a: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DC8A1C8E-89D2-DA49-1824-3E3B58EB1A01}"/>
              </a:ext>
            </a:extLst>
          </p:cNvPr>
          <p:cNvGrpSpPr/>
          <p:nvPr/>
        </p:nvGrpSpPr>
        <p:grpSpPr>
          <a:xfrm>
            <a:off x="0" y="2239936"/>
            <a:ext cx="12186199" cy="4196588"/>
            <a:chOff x="0" y="1828456"/>
            <a:chExt cx="12186199" cy="4196588"/>
          </a:xfrm>
        </p:grpSpPr>
        <p:pic>
          <p:nvPicPr>
            <p:cNvPr id="3" name="圖片 12">
              <a:extLst>
                <a:ext uri="{FF2B5EF4-FFF2-40B4-BE49-F238E27FC236}">
                  <a16:creationId xmlns:a16="http://schemas.microsoft.com/office/drawing/2014/main" id="{EE49D47E-D087-C6D3-2BBE-2B494E5FEE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385859"/>
              <a:ext cx="5760000" cy="3081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箭號: 向右 6">
              <a:extLst>
                <a:ext uri="{FF2B5EF4-FFF2-40B4-BE49-F238E27FC236}">
                  <a16:creationId xmlns:a16="http://schemas.microsoft.com/office/drawing/2014/main" id="{AF6F3020-A0B4-C36F-7BD4-148AE74226CA}"/>
                </a:ext>
              </a:extLst>
            </p:cNvPr>
            <p:cNvSpPr/>
            <p:nvPr/>
          </p:nvSpPr>
          <p:spPr>
            <a:xfrm rot="10800000">
              <a:off x="5823099" y="3692750"/>
              <a:ext cx="540000" cy="468000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F2029FC9-FFD4-D5D0-994B-EE4E0365C10C}"/>
                </a:ext>
              </a:extLst>
            </p:cNvPr>
            <p:cNvGrpSpPr/>
            <p:nvPr/>
          </p:nvGrpSpPr>
          <p:grpSpPr>
            <a:xfrm>
              <a:off x="6426199" y="1828456"/>
              <a:ext cx="5760000" cy="4196588"/>
              <a:chOff x="6426199" y="1828456"/>
              <a:chExt cx="5760000" cy="4196588"/>
            </a:xfrm>
          </p:grpSpPr>
          <p:pic>
            <p:nvPicPr>
              <p:cNvPr id="10" name="圖片 14">
                <a:extLst>
                  <a:ext uri="{FF2B5EF4-FFF2-40B4-BE49-F238E27FC236}">
                    <a16:creationId xmlns:a16="http://schemas.microsoft.com/office/drawing/2014/main" id="{E58D1E00-3707-7306-BE16-0C54B232FF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26199" y="1828456"/>
                <a:ext cx="5760000" cy="3426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8712F90C-7200-F000-B69B-45F77FA87936}"/>
                  </a:ext>
                </a:extLst>
              </p:cNvPr>
              <p:cNvGrpSpPr/>
              <p:nvPr/>
            </p:nvGrpSpPr>
            <p:grpSpPr>
              <a:xfrm>
                <a:off x="6426199" y="5255106"/>
                <a:ext cx="5760000" cy="769938"/>
                <a:chOff x="6470650" y="5937250"/>
                <a:chExt cx="6623050" cy="769938"/>
              </a:xfrm>
            </p:grpSpPr>
            <p:pic>
              <p:nvPicPr>
                <p:cNvPr id="14" name="圖片 16">
                  <a:extLst>
                    <a:ext uri="{FF2B5EF4-FFF2-40B4-BE49-F238E27FC236}">
                      <a16:creationId xmlns:a16="http://schemas.microsoft.com/office/drawing/2014/main" id="{4B520250-781B-1BFB-B191-0C0B684C473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70650" y="5937250"/>
                  <a:ext cx="2720975" cy="7699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7" name="圖片 18">
                  <a:extLst>
                    <a:ext uri="{FF2B5EF4-FFF2-40B4-BE49-F238E27FC236}">
                      <a16:creationId xmlns:a16="http://schemas.microsoft.com/office/drawing/2014/main" id="{60DE2301-524E-6CFC-78C7-A311E6B9216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191625" y="5937250"/>
                  <a:ext cx="3902075" cy="7699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DDAF1F4-6B2A-5F9B-267D-74FFE849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儀表安裝、配管工程</a:t>
            </a:r>
          </a:p>
        </p:txBody>
      </p:sp>
      <p:pic>
        <p:nvPicPr>
          <p:cNvPr id="3" name="Picture 20484" descr="image.jpeg">
            <a:extLst>
              <a:ext uri="{FF2B5EF4-FFF2-40B4-BE49-F238E27FC236}">
                <a16:creationId xmlns:a16="http://schemas.microsoft.com/office/drawing/2014/main" id="{2E1FB84A-5327-2350-3DF8-5F9F37405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488" y="1828800"/>
            <a:ext cx="3278517" cy="2459442"/>
          </a:xfrm>
          <a:prstGeom prst="rect">
            <a:avLst/>
          </a:prstGeom>
        </p:spPr>
      </p:pic>
      <p:pic>
        <p:nvPicPr>
          <p:cNvPr id="7" name="Picture 20485" descr="image.jpeg">
            <a:extLst>
              <a:ext uri="{FF2B5EF4-FFF2-40B4-BE49-F238E27FC236}">
                <a16:creationId xmlns:a16="http://schemas.microsoft.com/office/drawing/2014/main" id="{2BA5E903-7B6C-E522-A380-2206044F8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726" y="1828800"/>
            <a:ext cx="3278517" cy="2459442"/>
          </a:xfrm>
          <a:prstGeom prst="rect">
            <a:avLst/>
          </a:prstGeom>
        </p:spPr>
      </p:pic>
      <p:pic>
        <p:nvPicPr>
          <p:cNvPr id="11" name="Picture 20486" descr="image.jpeg">
            <a:extLst>
              <a:ext uri="{FF2B5EF4-FFF2-40B4-BE49-F238E27FC236}">
                <a16:creationId xmlns:a16="http://schemas.microsoft.com/office/drawing/2014/main" id="{BE816F71-3784-75D7-6DA2-DF14335EA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963" y="1828800"/>
            <a:ext cx="3278517" cy="2459442"/>
          </a:xfrm>
          <a:prstGeom prst="rect">
            <a:avLst/>
          </a:prstGeom>
        </p:spPr>
      </p:pic>
      <p:pic>
        <p:nvPicPr>
          <p:cNvPr id="14" name="Picture 20487" descr="image.jpeg">
            <a:extLst>
              <a:ext uri="{FF2B5EF4-FFF2-40B4-BE49-F238E27FC236}">
                <a16:creationId xmlns:a16="http://schemas.microsoft.com/office/drawing/2014/main" id="{B05D0D94-07FF-8AD5-AF71-F120C749B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488" y="4333962"/>
            <a:ext cx="3278517" cy="2459442"/>
          </a:xfrm>
          <a:prstGeom prst="rect">
            <a:avLst/>
          </a:prstGeom>
        </p:spPr>
      </p:pic>
      <p:pic>
        <p:nvPicPr>
          <p:cNvPr id="17" name="Picture 20488" descr="image.jpeg">
            <a:extLst>
              <a:ext uri="{FF2B5EF4-FFF2-40B4-BE49-F238E27FC236}">
                <a16:creationId xmlns:a16="http://schemas.microsoft.com/office/drawing/2014/main" id="{238D9C08-FF5B-B82E-D1CB-4C9D4F8D4E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6726" y="4333962"/>
            <a:ext cx="3278517" cy="2459442"/>
          </a:xfrm>
          <a:prstGeom prst="rect">
            <a:avLst/>
          </a:prstGeom>
        </p:spPr>
      </p:pic>
      <p:pic>
        <p:nvPicPr>
          <p:cNvPr id="19" name="Picture 20489" descr="image.jpeg">
            <a:extLst>
              <a:ext uri="{FF2B5EF4-FFF2-40B4-BE49-F238E27FC236}">
                <a16:creationId xmlns:a16="http://schemas.microsoft.com/office/drawing/2014/main" id="{15B9C48D-350A-62C8-9AE6-0A07FD0E81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0963" y="4333962"/>
            <a:ext cx="3278517" cy="24594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0F731-6E68-D353-D89B-DD3B1663A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925AF9F-090F-FE1D-3ABE-EF9E9CCE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儀表安裝、配管工程</a:t>
            </a:r>
          </a:p>
        </p:txBody>
      </p:sp>
      <p:pic>
        <p:nvPicPr>
          <p:cNvPr id="3" name="Picture 22532" descr="image.jpeg">
            <a:extLst>
              <a:ext uri="{FF2B5EF4-FFF2-40B4-BE49-F238E27FC236}">
                <a16:creationId xmlns:a16="http://schemas.microsoft.com/office/drawing/2014/main" id="{2875AEA0-6523-2948-7AA9-547803A91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488" y="1828800"/>
            <a:ext cx="3278517" cy="2459442"/>
          </a:xfrm>
          <a:prstGeom prst="rect">
            <a:avLst/>
          </a:prstGeom>
        </p:spPr>
      </p:pic>
      <p:pic>
        <p:nvPicPr>
          <p:cNvPr id="7" name="Picture 22533" descr="image.jpeg">
            <a:extLst>
              <a:ext uri="{FF2B5EF4-FFF2-40B4-BE49-F238E27FC236}">
                <a16:creationId xmlns:a16="http://schemas.microsoft.com/office/drawing/2014/main" id="{2DE87852-E3E7-DB68-C1C7-99E512884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726" y="1828800"/>
            <a:ext cx="3278517" cy="2459442"/>
          </a:xfrm>
          <a:prstGeom prst="rect">
            <a:avLst/>
          </a:prstGeom>
        </p:spPr>
      </p:pic>
      <p:pic>
        <p:nvPicPr>
          <p:cNvPr id="10" name="Picture 22534" descr="image.jpeg">
            <a:extLst>
              <a:ext uri="{FF2B5EF4-FFF2-40B4-BE49-F238E27FC236}">
                <a16:creationId xmlns:a16="http://schemas.microsoft.com/office/drawing/2014/main" id="{915A3AF2-BC6B-8730-15FA-6B2CC600C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963" y="1828800"/>
            <a:ext cx="3278517" cy="2459442"/>
          </a:xfrm>
          <a:prstGeom prst="rect">
            <a:avLst/>
          </a:prstGeom>
        </p:spPr>
      </p:pic>
      <p:pic>
        <p:nvPicPr>
          <p:cNvPr id="13" name="Picture 22535" descr="image.jpeg">
            <a:extLst>
              <a:ext uri="{FF2B5EF4-FFF2-40B4-BE49-F238E27FC236}">
                <a16:creationId xmlns:a16="http://schemas.microsoft.com/office/drawing/2014/main" id="{44A393E5-7232-EE94-FD96-081A7B7787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488" y="4333962"/>
            <a:ext cx="3278517" cy="2459442"/>
          </a:xfrm>
          <a:prstGeom prst="rect">
            <a:avLst/>
          </a:prstGeom>
        </p:spPr>
      </p:pic>
      <p:pic>
        <p:nvPicPr>
          <p:cNvPr id="17" name="Picture 22536" descr="image.jpeg">
            <a:extLst>
              <a:ext uri="{FF2B5EF4-FFF2-40B4-BE49-F238E27FC236}">
                <a16:creationId xmlns:a16="http://schemas.microsoft.com/office/drawing/2014/main" id="{72FA7BF5-5FF9-8D90-0795-851D637A1C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6726" y="4333962"/>
            <a:ext cx="3278517" cy="2459442"/>
          </a:xfrm>
          <a:prstGeom prst="rect">
            <a:avLst/>
          </a:prstGeom>
        </p:spPr>
      </p:pic>
      <p:pic>
        <p:nvPicPr>
          <p:cNvPr id="20" name="Picture 22537" descr="image.jpeg">
            <a:extLst>
              <a:ext uri="{FF2B5EF4-FFF2-40B4-BE49-F238E27FC236}">
                <a16:creationId xmlns:a16="http://schemas.microsoft.com/office/drawing/2014/main" id="{52DF6139-7598-7DD1-B144-E8AD2B8512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0963" y="4333962"/>
            <a:ext cx="3278517" cy="245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87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教育類主題 16x9">
  <a:themeElements>
    <a:clrScheme name="自訂 1">
      <a:dk1>
        <a:srgbClr val="1F497D"/>
      </a:dk1>
      <a:lt1>
        <a:srgbClr val="EEECE1"/>
      </a:lt1>
      <a:dk2>
        <a:srgbClr val="1F497D"/>
      </a:dk2>
      <a:lt2>
        <a:srgbClr val="DBE5F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0525322_TF03462902_TF03462902.potx" id="{75934AA0-EA7E-48C9-AC6C-B8776C9980C1}" vid="{F712579A-141C-4177-A05B-4907AD265093}"/>
    </a:ext>
  </a:extLst>
</a:theme>
</file>

<file path=ppt/theme/theme2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教育類主題簡報：黑板手繪設計 (寬螢幕)</Template>
  <TotalTime>23180</TotalTime>
  <Words>245</Words>
  <Application>Microsoft Office PowerPoint</Application>
  <PresentationFormat>寬螢幕</PresentationFormat>
  <Paragraphs>35</Paragraphs>
  <Slides>9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Microsoft JhengHei UI</vt:lpstr>
      <vt:lpstr>微軟正黑體</vt:lpstr>
      <vt:lpstr>Wingdings</vt:lpstr>
      <vt:lpstr>教育類主題 16x9</vt:lpstr>
      <vt:lpstr>PowerPoint 簡報</vt:lpstr>
      <vt:lpstr>兆豐銀行－宏明</vt:lpstr>
      <vt:lpstr>模組安裝</vt:lpstr>
      <vt:lpstr>螢幕、ACP箱體</vt:lpstr>
      <vt:lpstr>台以八翁－宏明</vt:lpstr>
      <vt:lpstr>法蘭摩沙－鎮寶、名湶、俊雄</vt:lpstr>
      <vt:lpstr>施工進度表</vt:lpstr>
      <vt:lpstr>儀表安裝、配管工程</vt:lpstr>
      <vt:lpstr>儀表安裝、配管工程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工程部週會 會議記錄</dc:title>
  <dc:creator>user</dc:creator>
  <cp:lastModifiedBy>User6</cp:lastModifiedBy>
  <cp:revision>1588</cp:revision>
  <dcterms:created xsi:type="dcterms:W3CDTF">2024-09-06T09:16:56Z</dcterms:created>
  <dcterms:modified xsi:type="dcterms:W3CDTF">2026-09-11T05:17:48Z</dcterms:modified>
</cp:coreProperties>
</file>
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4" r:id="rId2"/>
    <p:sldId id="705" r:id="rId3"/>
    <p:sldId id="676" r:id="rId4"/>
    <p:sldId id="708" r:id="rId5"/>
    <p:sldId id="709" r:id="rId6"/>
    <p:sldId id="710" r:id="rId7"/>
    <p:sldId id="704" r:id="rId8"/>
    <p:sldId id="707" r:id="rId9"/>
    <p:sldId id="328" r:id="rId10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2026/10/2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2026/10/2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3A164D86-336A-2349-15E8-4207643B7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29D28226-2CF5-2647-2375-67D263B7B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D5876671-0B37-C563-CA3E-398DC9924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21C9B475-2160-4D0D-B775-07063B412602}" type="slidenum">
              <a:rPr lang="en-US" altLang="zh-TW" smtClean="0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2026/10/2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2026/09/29</a:t>
            </a:r>
            <a:r>
              <a:rPr lang="zh-TW" altLang="en-US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2026/10/02</a:t>
            </a:r>
            <a:endParaRPr lang="en-US" altLang="zh-TW" sz="2400" b="1" dirty="0">
              <a:solidFill>
                <a:schemeClr val="accent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FEA5-39C3-2BCD-E8F6-5A82078B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D5AF16A-A619-0074-2A3A-3C65FAAA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支架組裝 </a:t>
            </a:r>
            <a:r>
              <a:rPr lang="en-US" altLang="zh-TW" sz="2000" b="1"/>
              <a:t>86%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模組安裝 </a:t>
            </a:r>
            <a:r>
              <a:rPr lang="en-US" altLang="zh-TW" sz="2000" b="1"/>
              <a:t>80%  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變流器安裝 </a:t>
            </a:r>
            <a:r>
              <a:rPr lang="en-US" altLang="zh-TW" sz="2000" b="1"/>
              <a:t>90%</a:t>
            </a:r>
            <a:r>
              <a:rPr lang="zh-TW" altLang="en-US" sz="2000" b="1"/>
              <a:t>（安裝固定完成尚未結線測試）</a:t>
            </a:r>
            <a:endParaRPr lang="en-US" altLang="zh-TW" sz="2000" b="1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儲能櫃安裝 </a:t>
            </a:r>
            <a:r>
              <a:rPr lang="en-US" altLang="zh-TW" sz="2000" b="1"/>
              <a:t>80%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zh-TW" sz="2000" b="1" dirty="0"/>
          </a:p>
          <a:p>
            <a:r>
              <a:rPr lang="zh-TW" altLang="en-US" sz="2000" b="1" dirty="0"/>
              <a:t>追蹤事項：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追蹤後續 </a:t>
            </a:r>
            <a:r>
              <a:rPr lang="en-US" altLang="zh-TW" sz="2000" b="1"/>
              <a:t>AC </a:t>
            </a:r>
            <a:r>
              <a:rPr lang="zh-TW" altLang="en-US" sz="2000" b="1"/>
              <a:t>盤體 </a:t>
            </a:r>
            <a:r>
              <a:rPr lang="en-US" altLang="zh-TW" sz="2000" b="1"/>
              <a:t>… </a:t>
            </a:r>
            <a:r>
              <a:rPr lang="zh-TW" altLang="en-US" sz="2000" b="1"/>
              <a:t>等物料進場及施工人員進場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E63B7D18-10FF-8D4A-4814-534B4399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15672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AE2C-7421-5743-294D-C949DDCE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C875D14-C1BB-A698-D24A-B4FD96D2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模組安裝</a:t>
            </a:r>
          </a:p>
        </p:txBody>
      </p:sp>
      <p:pic>
        <p:nvPicPr>
          <p:cNvPr id="3" name="Picture 17411" descr="image.jpeg">
            <a:extLst>
              <a:ext uri="{FF2B5EF4-FFF2-40B4-BE49-F238E27FC236}">
                <a16:creationId xmlns:a16="http://schemas.microsoft.com/office/drawing/2014/main" id="{45B8FFE0-B8F0-00A4-BC01-3D71D691E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4748"/>
            <a:ext cx="5205535" cy="3904151"/>
          </a:xfrm>
          <a:prstGeom prst="rect">
            <a:avLst/>
          </a:prstGeom>
        </p:spPr>
      </p:pic>
      <p:pic>
        <p:nvPicPr>
          <p:cNvPr id="7" name="Picture 17412" descr="image.jpeg">
            <a:extLst>
              <a:ext uri="{FF2B5EF4-FFF2-40B4-BE49-F238E27FC236}">
                <a16:creationId xmlns:a16="http://schemas.microsoft.com/office/drawing/2014/main" id="{94FA9110-6793-3D68-9ABF-6DEC58894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255" y="2354748"/>
            <a:ext cx="6940714" cy="390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9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1FF2F-DB06-D194-CE29-B3B853B2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343A6D3F-94EE-D3F6-BC19-020CA5F53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支架鎖固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19459" descr="image.jpeg">
            <a:extLst>
              <a:ext uri="{FF2B5EF4-FFF2-40B4-BE49-F238E27FC236}">
                <a16:creationId xmlns:a16="http://schemas.microsoft.com/office/drawing/2014/main" id="{115E37BF-2D6F-D40C-6F99-4C32E7684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8888"/>
            <a:ext cx="6073124" cy="4555871"/>
          </a:xfrm>
          <a:prstGeom prst="rect">
            <a:avLst/>
          </a:prstGeom>
        </p:spPr>
      </p:pic>
      <p:pic>
        <p:nvPicPr>
          <p:cNvPr id="5" name="Picture 19460" descr="image.jpeg">
            <a:extLst>
              <a:ext uri="{FF2B5EF4-FFF2-40B4-BE49-F238E27FC236}">
                <a16:creationId xmlns:a16="http://schemas.microsoft.com/office/drawing/2014/main" id="{3FFB8D8E-B62A-92D6-97F5-049BE6E9D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44" y="2028888"/>
            <a:ext cx="6073124" cy="455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6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69180-7538-8E5B-B52F-7560A01B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0A3DEF50-2B6C-B94F-0C76-24B86E0A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en-US" altLang="zh-TW" sz="2600" b="1">
                <a:solidFill>
                  <a:schemeClr val="bg2"/>
                </a:solidFill>
              </a:rPr>
              <a:t>ACP</a:t>
            </a:r>
            <a:r>
              <a:rPr lang="zh-TW" altLang="en-US" sz="2600" b="1">
                <a:solidFill>
                  <a:schemeClr val="bg2"/>
                </a:solidFill>
              </a:rPr>
              <a:t>箱體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1507" descr="image.png">
            <a:extLst>
              <a:ext uri="{FF2B5EF4-FFF2-40B4-BE49-F238E27FC236}">
                <a16:creationId xmlns:a16="http://schemas.microsoft.com/office/drawing/2014/main" id="{03E97DA9-C3D0-7874-2C99-1D39D3619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0" y="1828800"/>
            <a:ext cx="2291053" cy="4956048"/>
          </a:xfrm>
          <a:prstGeom prst="rect">
            <a:avLst/>
          </a:prstGeom>
        </p:spPr>
      </p:pic>
      <p:pic>
        <p:nvPicPr>
          <p:cNvPr id="5" name="Picture 21508" descr="image.png">
            <a:extLst>
              <a:ext uri="{FF2B5EF4-FFF2-40B4-BE49-F238E27FC236}">
                <a16:creationId xmlns:a16="http://schemas.microsoft.com/office/drawing/2014/main" id="{29002FF8-AA18-5FB2-6C3A-6D1F62941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713" y="1828800"/>
            <a:ext cx="2291053" cy="4956048"/>
          </a:xfrm>
          <a:prstGeom prst="rect">
            <a:avLst/>
          </a:prstGeom>
        </p:spPr>
      </p:pic>
      <p:pic>
        <p:nvPicPr>
          <p:cNvPr id="8" name="Picture 21509" descr="image.png">
            <a:extLst>
              <a:ext uri="{FF2B5EF4-FFF2-40B4-BE49-F238E27FC236}">
                <a16:creationId xmlns:a16="http://schemas.microsoft.com/office/drawing/2014/main" id="{5A9EFF7D-6C5E-23A6-44F6-6D1C445F9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486" y="1828800"/>
            <a:ext cx="7126542" cy="49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1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7B0D-2D2C-BD0B-8FF3-8AE7C7C3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CC0FCDA-918D-AC25-E305-07960D97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線槽安裝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3555" descr="image.jpeg">
            <a:extLst>
              <a:ext uri="{FF2B5EF4-FFF2-40B4-BE49-F238E27FC236}">
                <a16:creationId xmlns:a16="http://schemas.microsoft.com/office/drawing/2014/main" id="{72106A0D-70B4-016C-3A2A-CB8E796D1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8888"/>
            <a:ext cx="6073124" cy="4555871"/>
          </a:xfrm>
          <a:prstGeom prst="rect">
            <a:avLst/>
          </a:prstGeom>
        </p:spPr>
      </p:pic>
      <p:pic>
        <p:nvPicPr>
          <p:cNvPr id="5" name="Picture 23556" descr="image.jpeg">
            <a:extLst>
              <a:ext uri="{FF2B5EF4-FFF2-40B4-BE49-F238E27FC236}">
                <a16:creationId xmlns:a16="http://schemas.microsoft.com/office/drawing/2014/main" id="{E7942118-7A08-53F6-6FA9-8E6040FF9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44" y="2028888"/>
            <a:ext cx="6073124" cy="455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9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D10B-915E-19EE-E930-DA15BB96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AACB028-F1B5-DDC2-C82E-3A33120D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/>
              <a:t>追蹤</a:t>
            </a:r>
            <a:r>
              <a:rPr lang="zh-TW" altLang="en-US" sz="2000" b="1" dirty="0"/>
              <a:t>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漏水 </a:t>
            </a:r>
            <a:r>
              <a:rPr lang="en-US" altLang="zh-TW" sz="2000" b="1"/>
              <a:t>8/25 </a:t>
            </a:r>
            <a:r>
              <a:rPr lang="zh-TW" altLang="en-US" sz="2000" b="1"/>
              <a:t>提報、施工工法及工序建議，內部審核中</a:t>
            </a:r>
            <a:r>
              <a:rPr lang="zh-TW" altLang="en-US" sz="2000" b="1">
                <a:solidFill>
                  <a:schemeClr val="accent2"/>
                </a:solidFill>
              </a:rPr>
              <a:t>（第 </a:t>
            </a:r>
            <a:r>
              <a:rPr lang="en-US" altLang="zh-TW" sz="2000" b="1">
                <a:solidFill>
                  <a:schemeClr val="accent2"/>
                </a:solidFill>
              </a:rPr>
              <a:t>37 </a:t>
            </a:r>
            <a:r>
              <a:rPr lang="zh-TW" altLang="en-US" sz="2000" b="1">
                <a:solidFill>
                  <a:schemeClr val="accent2"/>
                </a:solidFill>
              </a:rPr>
              <a:t>天）</a:t>
            </a:r>
            <a:endParaRPr lang="zh-TW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CCB153B-A8E7-DA53-F2F7-CC7C49F9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台以八翁－宏明</a:t>
            </a:r>
          </a:p>
        </p:txBody>
      </p:sp>
    </p:spTree>
    <p:extLst>
      <p:ext uri="{BB962C8B-B14F-4D97-AF65-F5344CB8AC3E}">
        <p14:creationId xmlns:p14="http://schemas.microsoft.com/office/powerpoint/2010/main" val="27338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618-90BE-B7D6-819E-1611B875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C037763-66CE-C081-DE62-6AD6BC9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DEFFEB7-0315-B08B-2CDB-92C6935D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>
                <a:solidFill>
                  <a:schemeClr val="accent2"/>
                </a:solidFill>
              </a:rPr>
              <a:t>Tube</a:t>
            </a:r>
            <a:r>
              <a:rPr lang="zh-TW" altLang="en-US" sz="2000" b="1">
                <a:solidFill>
                  <a:schemeClr val="accent2"/>
                </a:solidFill>
              </a:rPr>
              <a:t> 管安裝：</a:t>
            </a:r>
            <a:r>
              <a:rPr lang="en-US" altLang="zh-TW" sz="2000" b="1">
                <a:solidFill>
                  <a:schemeClr val="accent2"/>
                </a:solidFill>
              </a:rPr>
              <a:t>30%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accent2"/>
                </a:solidFill>
              </a:rPr>
              <a:t>儀表安裝：</a:t>
            </a:r>
            <a:r>
              <a:rPr lang="en-US" altLang="zh-TW" sz="2000" b="1">
                <a:solidFill>
                  <a:schemeClr val="accent2"/>
                </a:solidFill>
              </a:rPr>
              <a:t>98%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accent2"/>
                </a:solidFill>
              </a:rPr>
              <a:t>儀表結線：</a:t>
            </a:r>
            <a:r>
              <a:rPr lang="en-US" altLang="zh-TW" sz="2000" b="1">
                <a:solidFill>
                  <a:schemeClr val="accent2"/>
                </a:solidFill>
              </a:rPr>
              <a:t>84%</a:t>
            </a:r>
            <a:endParaRPr lang="en-US" altLang="zh-TW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總進度：</a:t>
            </a:r>
            <a:r>
              <a:rPr lang="en-US" altLang="zh-TW" sz="2000" b="1">
                <a:solidFill>
                  <a:schemeClr val="tx2"/>
                </a:solidFill>
              </a:rPr>
              <a:t>89.4%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zh-TW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案場協調項目：</a:t>
            </a:r>
            <a:endParaRPr lang="en-US" altLang="zh-TW" sz="2000" b="1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>
                <a:solidFill>
                  <a:schemeClr val="tx2"/>
                </a:solidFill>
              </a:rPr>
              <a:t>7</a:t>
            </a:r>
            <a:r>
              <a:rPr lang="zh-TW" altLang="en-US" sz="2000" b="1">
                <a:solidFill>
                  <a:schemeClr val="tx2"/>
                </a:solidFill>
              </a:rPr>
              <a:t> 月提供亞通管路組儀表無法安裝</a:t>
            </a:r>
            <a:r>
              <a:rPr lang="zh-TW" altLang="en-US" sz="2000" b="1">
                <a:solidFill>
                  <a:schemeClr val="accent2"/>
                </a:solidFill>
              </a:rPr>
              <a:t>餘 </a:t>
            </a:r>
            <a:r>
              <a:rPr lang="en-US" altLang="zh-TW" sz="2000" b="1">
                <a:solidFill>
                  <a:schemeClr val="accent2"/>
                </a:solidFill>
              </a:rPr>
              <a:t>12 </a:t>
            </a:r>
            <a:r>
              <a:rPr lang="zh-TW" altLang="en-US" sz="2000" b="1">
                <a:solidFill>
                  <a:schemeClr val="tx2"/>
                </a:solidFill>
              </a:rPr>
              <a:t>處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>
                <a:solidFill>
                  <a:schemeClr val="tx2"/>
                </a:solidFill>
              </a:rPr>
              <a:t>9/17</a:t>
            </a:r>
            <a:r>
              <a:rPr lang="zh-TW" altLang="en-US" sz="2000" b="1">
                <a:solidFill>
                  <a:schemeClr val="tx2"/>
                </a:solidFill>
              </a:rPr>
              <a:t> 亞通管路組提 </a:t>
            </a:r>
            <a:r>
              <a:rPr lang="en-US" altLang="zh-TW" sz="2000" b="1">
                <a:solidFill>
                  <a:schemeClr val="tx2"/>
                </a:solidFill>
              </a:rPr>
              <a:t>TIT</a:t>
            </a:r>
            <a:r>
              <a:rPr lang="zh-TW" altLang="en-US" sz="2000" b="1">
                <a:solidFill>
                  <a:schemeClr val="tx2"/>
                </a:solidFill>
              </a:rPr>
              <a:t>（溫度傳訊器）</a:t>
            </a:r>
            <a:r>
              <a:rPr lang="zh-TW" altLang="en-US" sz="2000" b="1">
                <a:solidFill>
                  <a:schemeClr val="accent2"/>
                </a:solidFill>
              </a:rPr>
              <a:t>餘 </a:t>
            </a:r>
            <a:r>
              <a:rPr lang="en-US" altLang="zh-TW" sz="2000" b="1">
                <a:solidFill>
                  <a:schemeClr val="accent2"/>
                </a:solidFill>
              </a:rPr>
              <a:t>22 </a:t>
            </a:r>
            <a:r>
              <a:rPr lang="zh-TW" altLang="en-US" sz="2000" b="1">
                <a:solidFill>
                  <a:schemeClr val="tx2"/>
                </a:solidFill>
              </a:rPr>
              <a:t>處</a:t>
            </a:r>
          </a:p>
        </p:txBody>
      </p:sp>
    </p:spTree>
    <p:extLst>
      <p:ext uri="{BB962C8B-B14F-4D97-AF65-F5344CB8AC3E}">
        <p14:creationId xmlns:p14="http://schemas.microsoft.com/office/powerpoint/2010/main" val="331254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E1A27CA-4BAE-5BF5-65AB-EBA8BC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施工進度表</a:t>
            </a: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B34D1B90-4103-A22E-36BC-FE0B02732BAF}"/>
              </a:ext>
            </a:extLst>
          </p:cNvPr>
          <p:cNvGrpSpPr/>
          <p:nvPr/>
        </p:nvGrpSpPr>
        <p:grpSpPr>
          <a:xfrm>
            <a:off x="0" y="2273682"/>
            <a:ext cx="6048000" cy="4117975"/>
            <a:chOff x="-1614488" y="2181225"/>
            <a:chExt cx="7710488" cy="411797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33935D35-B1A7-A1FC-8C3B-40306A2FEB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614488" y="2181225"/>
              <a:ext cx="7659688" cy="411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40D8516B-2A93-0FF1-45A8-9C2DDF08E136}"/>
                </a:ext>
              </a:extLst>
            </p:cNvPr>
            <p:cNvSpPr/>
            <p:nvPr/>
          </p:nvSpPr>
          <p:spPr>
            <a:xfrm>
              <a:off x="-1614488" y="3429000"/>
              <a:ext cx="7710488" cy="1889125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dirty="0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A064954A-5704-9DEC-571C-D6842E65A19D}"/>
              </a:ext>
            </a:extLst>
          </p:cNvPr>
          <p:cNvGrpSpPr/>
          <p:nvPr/>
        </p:nvGrpSpPr>
        <p:grpSpPr>
          <a:xfrm>
            <a:off x="6144000" y="1867888"/>
            <a:ext cx="6048000" cy="4929562"/>
            <a:chOff x="3969508" y="981075"/>
            <a:chExt cx="7300913" cy="4929562"/>
          </a:xfrm>
        </p:grpSpPr>
        <p:pic>
          <p:nvPicPr>
            <p:cNvPr id="10" name="圖片 4">
              <a:extLst>
                <a:ext uri="{FF2B5EF4-FFF2-40B4-BE49-F238E27FC236}">
                  <a16:creationId xmlns:a16="http://schemas.microsoft.com/office/drawing/2014/main" id="{BFDAA00C-8D67-888A-1138-9AF0154F5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9508" y="981075"/>
              <a:ext cx="7300913" cy="4119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圖片 8">
              <a:extLst>
                <a:ext uri="{FF2B5EF4-FFF2-40B4-BE49-F238E27FC236}">
                  <a16:creationId xmlns:a16="http://schemas.microsoft.com/office/drawing/2014/main" id="{F9EA950C-1DF3-52B6-8479-19B0410A45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9508" y="5100637"/>
              <a:ext cx="3026842" cy="81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圖片 10">
              <a:extLst>
                <a:ext uri="{FF2B5EF4-FFF2-40B4-BE49-F238E27FC236}">
                  <a16:creationId xmlns:a16="http://schemas.microsoft.com/office/drawing/2014/main" id="{03B00596-0DDA-9E5A-DB57-D37A37B51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0381" y="5100637"/>
              <a:ext cx="4310040" cy="81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23597</TotalTime>
  <Words>177</Words>
  <Application>Microsoft Office PowerPoint</Application>
  <PresentationFormat>寬螢幕</PresentationFormat>
  <Paragraphs>31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 UI</vt:lpstr>
      <vt:lpstr>微軟正黑體</vt:lpstr>
      <vt:lpstr>Wingdings</vt:lpstr>
      <vt:lpstr>教育類主題 16x9</vt:lpstr>
      <vt:lpstr>PowerPoint 簡報</vt:lpstr>
      <vt:lpstr>兆豐銀行－宏明</vt:lpstr>
      <vt:lpstr>模組安裝</vt:lpstr>
      <vt:lpstr>支架鎖固</vt:lpstr>
      <vt:lpstr>ACP箱體</vt:lpstr>
      <vt:lpstr>線槽安裝</vt:lpstr>
      <vt:lpstr>台以八翁－宏明</vt:lpstr>
      <vt:lpstr>法蘭摩沙－鎮寶、名湶、俊雄</vt:lpstr>
      <vt:lpstr>施工進度表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1604</cp:revision>
  <dcterms:created xsi:type="dcterms:W3CDTF">2024-09-06T09:16:56Z</dcterms:created>
  <dcterms:modified xsi:type="dcterms:W3CDTF">2026-10-02T03:40:24Z</dcterms:modified>
</cp:coreProperties>
</file>
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4" r:id="rId2"/>
    <p:sldId id="705" r:id="rId3"/>
    <p:sldId id="711" r:id="rId4"/>
    <p:sldId id="676" r:id="rId5"/>
    <p:sldId id="712" r:id="rId6"/>
    <p:sldId id="713" r:id="rId7"/>
    <p:sldId id="714" r:id="rId8"/>
    <p:sldId id="704" r:id="rId9"/>
    <p:sldId id="707" r:id="rId10"/>
    <p:sldId id="328" r:id="rId11"/>
    <p:sldId id="715" r:id="rId12"/>
    <p:sldId id="716" r:id="rId13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6041" autoAdjust="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280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62E987-7EBA-43A6-9FB1-518ACC0C0016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2026/10/8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2977E94-A6AB-4E02-8E43-E89F9CF4757F}" type="slidenum"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1CB75E-0C48-4433-BA77-C1F21AF9D86A}" type="datetime1">
              <a:rPr lang="zh-TW" altLang="en-US" smtClean="0"/>
              <a:pPr/>
              <a:t>2026/10/8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ED491D0-8E1B-49C7-849B-A28568D94497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投影片圖像版面配置區 1">
            <a:extLst>
              <a:ext uri="{FF2B5EF4-FFF2-40B4-BE49-F238E27FC236}">
                <a16:creationId xmlns:a16="http://schemas.microsoft.com/office/drawing/2014/main" id="{3A164D86-336A-2349-15E8-4207643B70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備忘稿版面配置區 2">
            <a:extLst>
              <a:ext uri="{FF2B5EF4-FFF2-40B4-BE49-F238E27FC236}">
                <a16:creationId xmlns:a16="http://schemas.microsoft.com/office/drawing/2014/main" id="{29D28226-2CF5-2647-2375-67D263B7B7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19460" name="投影片編號版面配置區 3">
            <a:extLst>
              <a:ext uri="{FF2B5EF4-FFF2-40B4-BE49-F238E27FC236}">
                <a16:creationId xmlns:a16="http://schemas.microsoft.com/office/drawing/2014/main" id="{D5876671-0B37-C563-CA3E-398DC9924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9pPr>
          </a:lstStyle>
          <a:p>
            <a:pPr>
              <a:spcBef>
                <a:spcPct val="0"/>
              </a:spcBef>
            </a:pPr>
            <a:fld id="{21C9B475-2160-4D0D-B775-07063B412602}" type="slidenum">
              <a:rPr lang="en-US" altLang="zh-TW" smtClean="0"/>
              <a:pPr>
                <a:spcBef>
                  <a:spcPct val="0"/>
                </a:spcBef>
              </a:pPr>
              <a:t>10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rtlCol="0"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/>
              <a:t>按一下以編輯母片副標題樣式</a:t>
            </a:r>
            <a:endParaRPr lang="zh-TW" altLang="en-US" dirty="0"/>
          </a:p>
        </p:txBody>
      </p:sp>
      <p:sp>
        <p:nvSpPr>
          <p:cNvPr id="11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D869B4D-421E-43A3-BBAA-8CCFA957A67D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12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13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2C5D44-5C85-485C-A00E-3A215B865BFF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 rtlCol="0"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2A14740C-1CD2-4B76-9AEA-8BECFA354BC5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4F1B4F-4B27-41CF-A46C-C0E416EBA6A3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日期預留位置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F5A7E8-AC39-4209-B53D-28B070EB2637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8" name="頁尾預留位置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94A37D3-65DB-46B6-81BC-43363DB4BC67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63B5AA-F24B-482A-91F0-C543E9D06BFE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 rtlCol="0"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內容預留位置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 rtlCol="0"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26CB77-6226-4325-8851-4C25870E44A4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 anchor="ctr">
            <a:normAutofit/>
          </a:bodyPr>
          <a:lstStyle>
            <a:lvl1pPr>
              <a:defRPr sz="3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 rtlCol="0"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編輯母片文字樣式</a:t>
            </a:r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zh-TW" altLang="en-US" dirty="0"/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402A5DE-81A3-4C0F-B253-6B97355A8EFB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B3D213-BE9F-47D9-B14D-790FF4D46DDE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vert"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vert" rtlCol="0"/>
          <a:lstStyle/>
          <a:p>
            <a:pPr lvl="0" rtl="0"/>
            <a:r>
              <a:rPr lang="zh-TW" altLang="en-US"/>
              <a:t>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 rtlCol="0"/>
          <a:lstStyle/>
          <a:p>
            <a:pPr rtl="0"/>
            <a:fld id="{5E5D3233-A6CF-47E7-8A67-907069E6709A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 rtlCol="0"/>
          <a:lstStyle/>
          <a:p>
            <a:pPr rtl="0"/>
            <a:fld id="{BD266BE7-899D-4075-917F-DBDE33B6B692}" type="slidenum">
              <a:rPr lang="en-US" altLang="zh-TW" smtClean="0"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標題預留位置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  <a:p>
            <a:pPr lvl="5" rtl="0"/>
            <a:r>
              <a:rPr lang="zh-TW" altLang="en-US" dirty="0"/>
              <a:t>第六</a:t>
            </a:r>
          </a:p>
          <a:p>
            <a:pPr lvl="6" rtl="0"/>
            <a:r>
              <a:rPr lang="zh-TW" altLang="en-US" dirty="0"/>
              <a:t>第七</a:t>
            </a:r>
          </a:p>
          <a:p>
            <a:pPr lvl="7" rtl="0"/>
            <a:r>
              <a:rPr lang="zh-TW" altLang="en-US" dirty="0"/>
              <a:t>第八</a:t>
            </a:r>
          </a:p>
          <a:p>
            <a:pPr lvl="8" rtl="0"/>
            <a:r>
              <a:rPr lang="zh-TW" altLang="en-US" dirty="0"/>
              <a:t>第九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52E09C-297D-4B4B-9D8E-547194E495B4}" type="datetime1">
              <a:rPr lang="zh-TW" altLang="en-US" smtClean="0"/>
              <a:t>2026/10/8</a:t>
            </a:fld>
            <a:endParaRPr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D266BE7-899D-4075-917F-DBDE33B6B692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03813" y="1298089"/>
            <a:ext cx="441659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000" b="1" spc="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工程部週報</a:t>
            </a:r>
          </a:p>
        </p:txBody>
      </p:sp>
      <p:sp>
        <p:nvSpPr>
          <p:cNvPr id="4" name="矩形 3"/>
          <p:cNvSpPr/>
          <p:nvPr/>
        </p:nvSpPr>
        <p:spPr>
          <a:xfrm>
            <a:off x="261270" y="2612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b="1" spc="300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綠源科技股份有限公司</a:t>
            </a:r>
          </a:p>
          <a:p>
            <a:r>
              <a:rPr lang="en-US" altLang="zh-TW" b="1" dirty="0">
                <a:solidFill>
                  <a:schemeClr val="accent3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Green Source Technology</a:t>
            </a:r>
          </a:p>
        </p:txBody>
      </p:sp>
      <p:sp>
        <p:nvSpPr>
          <p:cNvPr id="5" name="矩形 4"/>
          <p:cNvSpPr/>
          <p:nvPr/>
        </p:nvSpPr>
        <p:spPr>
          <a:xfrm>
            <a:off x="4031440" y="2397642"/>
            <a:ext cx="3961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2026/10/05</a:t>
            </a:r>
            <a:r>
              <a:rPr lang="zh-TW" altLang="en-US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～</a:t>
            </a:r>
            <a:r>
              <a:rPr lang="en-US" altLang="zh-TW" sz="2400" b="1">
                <a:solidFill>
                  <a:schemeClr val="accent2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2026/10/08</a:t>
            </a:r>
            <a:endParaRPr lang="en-US" altLang="zh-TW" sz="2400" b="1" dirty="0">
              <a:solidFill>
                <a:schemeClr val="accent2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5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FEA5-39C3-2BCD-E8F6-5A82078B5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FD5AF16A-A619-0074-2A3A-3C65FAAAA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 dirty="0"/>
              <a:t>工程事項：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支架組裝 </a:t>
            </a:r>
            <a:r>
              <a:rPr lang="en-US" altLang="zh-TW" sz="2000" b="1"/>
              <a:t>86%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模組安裝 </a:t>
            </a:r>
            <a:r>
              <a:rPr lang="en-US" altLang="zh-TW" sz="2000" b="1"/>
              <a:t>85.2%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變流器安裝 </a:t>
            </a:r>
            <a:r>
              <a:rPr lang="en-US" altLang="zh-TW" sz="2000" b="1"/>
              <a:t>90%</a:t>
            </a:r>
            <a:r>
              <a:rPr lang="zh-TW" altLang="en-US" sz="2000" b="1"/>
              <a:t>（安裝固定完成尚未結線測試）</a:t>
            </a:r>
            <a:endParaRPr lang="en-US" altLang="zh-TW" sz="2000" b="1"/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儲能櫃安裝 </a:t>
            </a:r>
            <a:r>
              <a:rPr lang="en-US" altLang="zh-TW" sz="2000" b="1"/>
              <a:t>80%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直流線路架設 </a:t>
            </a:r>
            <a:r>
              <a:rPr lang="en-US" altLang="zh-TW" sz="2000" b="1"/>
              <a:t>74.4%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箱體施工－</a:t>
            </a:r>
            <a:r>
              <a:rPr lang="en-US" altLang="zh-TW" sz="2000" b="1"/>
              <a:t>ACP</a:t>
            </a:r>
            <a:r>
              <a:rPr lang="zh-TW" altLang="en-US" sz="2000" b="1"/>
              <a:t>、監控箱安裝鎖固 </a:t>
            </a:r>
            <a:r>
              <a:rPr lang="en-US" altLang="zh-TW" sz="2000" b="1"/>
              <a:t>60%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交流線路施工 </a:t>
            </a:r>
            <a:r>
              <a:rPr lang="en-US" altLang="zh-TW" sz="2000" b="1"/>
              <a:t>20%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E63B7D18-10FF-8D4A-4814-534B43991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兆豐銀行－宏明</a:t>
            </a:r>
          </a:p>
        </p:txBody>
      </p:sp>
    </p:spTree>
    <p:extLst>
      <p:ext uri="{BB962C8B-B14F-4D97-AF65-F5344CB8AC3E}">
        <p14:creationId xmlns:p14="http://schemas.microsoft.com/office/powerpoint/2010/main" val="1156721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E8D60-5715-851E-6DE8-D1C7DA5DE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D64B76FD-3501-D702-8E4B-E7BD7A14B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/>
              <a:t>追蹤</a:t>
            </a:r>
            <a:r>
              <a:rPr lang="zh-TW" altLang="en-US" sz="2000" b="1" dirty="0"/>
              <a:t>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追蹤後續 </a:t>
            </a:r>
            <a:r>
              <a:rPr lang="en-US" altLang="zh-TW" sz="2000" b="1"/>
              <a:t>AC </a:t>
            </a:r>
            <a:r>
              <a:rPr lang="zh-TW" altLang="en-US" sz="2000" b="1"/>
              <a:t>盤體 </a:t>
            </a:r>
            <a:r>
              <a:rPr lang="en-US" altLang="zh-TW" sz="2000" b="1"/>
              <a:t>… </a:t>
            </a:r>
            <a:r>
              <a:rPr lang="zh-TW" altLang="en-US" sz="2000" b="1"/>
              <a:t>等物料進場及施工人員進場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471734B-567F-E5B7-B0FC-52FE0845D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兆豐銀行－宏明</a:t>
            </a:r>
          </a:p>
        </p:txBody>
      </p:sp>
    </p:spTree>
    <p:extLst>
      <p:ext uri="{BB962C8B-B14F-4D97-AF65-F5344CB8AC3E}">
        <p14:creationId xmlns:p14="http://schemas.microsoft.com/office/powerpoint/2010/main" val="13521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AE2C-7421-5743-294D-C949DDCE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1C875D14-C1BB-A698-D24A-B4FD96D2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監控箱鎖固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4" name="圖片 2">
            <a:extLst>
              <a:ext uri="{FF2B5EF4-FFF2-40B4-BE49-F238E27FC236}">
                <a16:creationId xmlns:a16="http://schemas.microsoft.com/office/drawing/2014/main" id="{D1D1EC13-E746-DF7A-DA1E-7A8DA190E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3" y="2016125"/>
            <a:ext cx="6286500" cy="471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019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88FBB-D06D-2019-583B-E42FCD68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296DF155-4031-4FFD-E402-EDCD9A4F0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en-US" altLang="zh-TW" sz="2600" b="1">
                <a:solidFill>
                  <a:schemeClr val="bg2"/>
                </a:solidFill>
              </a:rPr>
              <a:t>ACP</a:t>
            </a:r>
            <a:r>
              <a:rPr lang="zh-TW" altLang="en-US" sz="2600" b="1">
                <a:solidFill>
                  <a:schemeClr val="bg2"/>
                </a:solidFill>
              </a:rPr>
              <a:t>箱體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3" name="Picture 19459" descr="image.png">
            <a:extLst>
              <a:ext uri="{FF2B5EF4-FFF2-40B4-BE49-F238E27FC236}">
                <a16:creationId xmlns:a16="http://schemas.microsoft.com/office/drawing/2014/main" id="{AA2545C9-D706-5EDF-6828-7677C60BC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311" y="1828800"/>
            <a:ext cx="2291053" cy="4956048"/>
          </a:xfrm>
          <a:prstGeom prst="rect">
            <a:avLst/>
          </a:prstGeom>
        </p:spPr>
      </p:pic>
      <p:pic>
        <p:nvPicPr>
          <p:cNvPr id="5" name="Picture 19460" descr="image.jpeg">
            <a:extLst>
              <a:ext uri="{FF2B5EF4-FFF2-40B4-BE49-F238E27FC236}">
                <a16:creationId xmlns:a16="http://schemas.microsoft.com/office/drawing/2014/main" id="{84909FF9-88DD-81F2-AA81-B9E886D9A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084" y="1828800"/>
            <a:ext cx="6606573" cy="495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75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19151-DE7F-1996-8505-00DAA1C43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13A10C-A591-31A4-A9A3-FBF98FE14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線槽安裝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3" name="Picture 21507" descr="image.jpeg">
            <a:extLst>
              <a:ext uri="{FF2B5EF4-FFF2-40B4-BE49-F238E27FC236}">
                <a16:creationId xmlns:a16="http://schemas.microsoft.com/office/drawing/2014/main" id="{9CEB8350-FE26-136F-F858-AC1468816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6430"/>
            <a:ext cx="3013702" cy="2260786"/>
          </a:xfrm>
          <a:prstGeom prst="rect">
            <a:avLst/>
          </a:prstGeom>
        </p:spPr>
      </p:pic>
      <p:pic>
        <p:nvPicPr>
          <p:cNvPr id="5" name="Picture 21508" descr="image.jpeg">
            <a:extLst>
              <a:ext uri="{FF2B5EF4-FFF2-40B4-BE49-F238E27FC236}">
                <a16:creationId xmlns:a16="http://schemas.microsoft.com/office/drawing/2014/main" id="{6DC79276-4E4D-A816-644F-45EC0CFCF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422" y="3176430"/>
            <a:ext cx="3013702" cy="2260786"/>
          </a:xfrm>
          <a:prstGeom prst="rect">
            <a:avLst/>
          </a:prstGeom>
        </p:spPr>
      </p:pic>
      <p:pic>
        <p:nvPicPr>
          <p:cNvPr id="8" name="Picture 21509" descr="image.jpeg">
            <a:extLst>
              <a:ext uri="{FF2B5EF4-FFF2-40B4-BE49-F238E27FC236}">
                <a16:creationId xmlns:a16="http://schemas.microsoft.com/office/drawing/2014/main" id="{4F020DB2-0DBB-609B-FDA5-02D4B42EF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844" y="3176430"/>
            <a:ext cx="3013702" cy="2260786"/>
          </a:xfrm>
          <a:prstGeom prst="rect">
            <a:avLst/>
          </a:prstGeom>
        </p:spPr>
      </p:pic>
      <p:pic>
        <p:nvPicPr>
          <p:cNvPr id="10" name="Picture 21510" descr="image.jpeg">
            <a:extLst>
              <a:ext uri="{FF2B5EF4-FFF2-40B4-BE49-F238E27FC236}">
                <a16:creationId xmlns:a16="http://schemas.microsoft.com/office/drawing/2014/main" id="{B30FD97C-D990-68A9-1DC2-DE36CA422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8267" y="3176430"/>
            <a:ext cx="3013702" cy="22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42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A782C-B7F7-634A-A9F2-9C7EE8D7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BEA2A0D-1F51-516A-804E-30AC641FF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en-US" altLang="zh-TW" sz="2600" b="1">
                <a:solidFill>
                  <a:schemeClr val="bg2"/>
                </a:solidFill>
              </a:rPr>
              <a:t>AC</a:t>
            </a:r>
            <a:r>
              <a:rPr lang="zh-TW" altLang="en-US" sz="2600" b="1">
                <a:solidFill>
                  <a:schemeClr val="bg2"/>
                </a:solidFill>
              </a:rPr>
              <a:t>、</a:t>
            </a:r>
            <a:r>
              <a:rPr lang="en-US" altLang="zh-TW" sz="2600" b="1">
                <a:solidFill>
                  <a:schemeClr val="bg2"/>
                </a:solidFill>
              </a:rPr>
              <a:t>DC</a:t>
            </a:r>
            <a:r>
              <a:rPr lang="zh-TW" altLang="en-US" sz="2600" b="1">
                <a:solidFill>
                  <a:schemeClr val="bg2"/>
                </a:solidFill>
              </a:rPr>
              <a:t>佈線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3" name="Picture 23555" descr="image.jpeg">
            <a:extLst>
              <a:ext uri="{FF2B5EF4-FFF2-40B4-BE49-F238E27FC236}">
                <a16:creationId xmlns:a16="http://schemas.microsoft.com/office/drawing/2014/main" id="{1875006F-5ADE-1047-E363-D5D6C53F9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756" y="1828800"/>
            <a:ext cx="3593650" cy="2022218"/>
          </a:xfrm>
          <a:prstGeom prst="rect">
            <a:avLst/>
          </a:prstGeom>
        </p:spPr>
      </p:pic>
      <p:pic>
        <p:nvPicPr>
          <p:cNvPr id="5" name="Picture 23556" descr="image.jpeg">
            <a:extLst>
              <a:ext uri="{FF2B5EF4-FFF2-40B4-BE49-F238E27FC236}">
                <a16:creationId xmlns:a16="http://schemas.microsoft.com/office/drawing/2014/main" id="{6ED44FBB-BDC1-3271-B7F6-94301E5FA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127" y="1828800"/>
            <a:ext cx="2695683" cy="2022218"/>
          </a:xfrm>
          <a:prstGeom prst="rect">
            <a:avLst/>
          </a:prstGeom>
        </p:spPr>
      </p:pic>
      <p:pic>
        <p:nvPicPr>
          <p:cNvPr id="8" name="Picture 23557" descr="image.jpeg">
            <a:extLst>
              <a:ext uri="{FF2B5EF4-FFF2-40B4-BE49-F238E27FC236}">
                <a16:creationId xmlns:a16="http://schemas.microsoft.com/office/drawing/2014/main" id="{F3A99BA3-94F0-0E9A-A47A-E1B0E5F3D9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530" y="1828800"/>
            <a:ext cx="2695683" cy="2022218"/>
          </a:xfrm>
          <a:prstGeom prst="rect">
            <a:avLst/>
          </a:prstGeom>
        </p:spPr>
      </p:pic>
      <p:pic>
        <p:nvPicPr>
          <p:cNvPr id="10" name="Picture 23558" descr="image.jpeg">
            <a:extLst>
              <a:ext uri="{FF2B5EF4-FFF2-40B4-BE49-F238E27FC236}">
                <a16:creationId xmlns:a16="http://schemas.microsoft.com/office/drawing/2014/main" id="{B6BBF22A-E05C-6C65-65F9-CD39B5C4E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3641" y="3896738"/>
            <a:ext cx="3865635" cy="2899880"/>
          </a:xfrm>
          <a:prstGeom prst="rect">
            <a:avLst/>
          </a:prstGeom>
        </p:spPr>
      </p:pic>
      <p:pic>
        <p:nvPicPr>
          <p:cNvPr id="12" name="Picture 23559" descr="image.jpeg">
            <a:extLst>
              <a:ext uri="{FF2B5EF4-FFF2-40B4-BE49-F238E27FC236}">
                <a16:creationId xmlns:a16="http://schemas.microsoft.com/office/drawing/2014/main" id="{22D35C10-38C4-D679-9202-0D75D1AFD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997" y="3896738"/>
            <a:ext cx="5153330" cy="289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3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D10B-915E-19EE-E930-DA15BB96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EAACB028-F1B5-DDC2-C82E-3A33120DD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9" y="2221076"/>
            <a:ext cx="9688504" cy="4449872"/>
          </a:xfrm>
        </p:spPr>
        <p:txBody>
          <a:bodyPr>
            <a:noAutofit/>
          </a:bodyPr>
          <a:lstStyle/>
          <a:p>
            <a:r>
              <a:rPr lang="zh-TW" altLang="en-US" sz="2000" b="1"/>
              <a:t>追蹤</a:t>
            </a:r>
            <a:r>
              <a:rPr lang="zh-TW" altLang="en-US" sz="2000" b="1" dirty="0"/>
              <a:t>事項：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b="1"/>
              <a:t>漏水 </a:t>
            </a:r>
            <a:r>
              <a:rPr lang="en-US" altLang="zh-TW" sz="2000" b="1"/>
              <a:t>8/25 </a:t>
            </a:r>
            <a:r>
              <a:rPr lang="zh-TW" altLang="en-US" sz="2000" b="1"/>
              <a:t>提報、施工工法及工序建議，內部審核中</a:t>
            </a:r>
            <a:r>
              <a:rPr lang="zh-TW" altLang="en-US" sz="2000" b="1">
                <a:solidFill>
                  <a:schemeClr val="accent2"/>
                </a:solidFill>
              </a:rPr>
              <a:t>（第 </a:t>
            </a:r>
            <a:r>
              <a:rPr lang="en-US" altLang="zh-TW" sz="2000" b="1">
                <a:solidFill>
                  <a:schemeClr val="accent2"/>
                </a:solidFill>
              </a:rPr>
              <a:t>43 </a:t>
            </a:r>
            <a:r>
              <a:rPr lang="zh-TW" altLang="en-US" sz="2000" b="1">
                <a:solidFill>
                  <a:schemeClr val="accent2"/>
                </a:solidFill>
              </a:rPr>
              <a:t>天）</a:t>
            </a:r>
            <a:endParaRPr lang="zh-TW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CCB153B-A8E7-DA53-F2F7-CC7C49F9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台以八翁－宏明</a:t>
            </a:r>
          </a:p>
        </p:txBody>
      </p:sp>
    </p:spTree>
    <p:extLst>
      <p:ext uri="{BB962C8B-B14F-4D97-AF65-F5344CB8AC3E}">
        <p14:creationId xmlns:p14="http://schemas.microsoft.com/office/powerpoint/2010/main" val="273387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D618-90BE-B7D6-819E-1611B875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C037763-66CE-C081-DE62-6AD6BC9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466343"/>
            <a:ext cx="9628632" cy="1362113"/>
          </a:xfrm>
        </p:spPr>
        <p:txBody>
          <a:bodyPr>
            <a:normAutofit/>
          </a:bodyPr>
          <a:lstStyle/>
          <a:p>
            <a:r>
              <a:rPr lang="zh-TW" altLang="en-US" sz="3200" b="1" dirty="0"/>
              <a:t>法蘭摩沙－鎮寶、名湶、俊雄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BDEFFEB7-0315-B08B-2CDB-92C6935D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288" y="2221076"/>
            <a:ext cx="9926247" cy="44498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000" b="1">
                <a:solidFill>
                  <a:schemeClr val="accent2"/>
                </a:solidFill>
              </a:rPr>
              <a:t>Tube</a:t>
            </a:r>
            <a:r>
              <a:rPr lang="zh-TW" altLang="en-US" sz="2000" b="1">
                <a:solidFill>
                  <a:schemeClr val="accent2"/>
                </a:solidFill>
              </a:rPr>
              <a:t> 管安裝：</a:t>
            </a:r>
            <a:r>
              <a:rPr lang="en-US" altLang="zh-TW" sz="2000" b="1">
                <a:solidFill>
                  <a:schemeClr val="accent2"/>
                </a:solidFill>
              </a:rPr>
              <a:t>19%</a:t>
            </a:r>
          </a:p>
          <a:p>
            <a:pPr marL="0" indent="0">
              <a:buNone/>
            </a:pPr>
            <a:r>
              <a:rPr lang="zh-TW" altLang="en-US" sz="2000" b="1">
                <a:solidFill>
                  <a:schemeClr val="accent2"/>
                </a:solidFill>
              </a:rPr>
              <a:t>儀表安裝：</a:t>
            </a:r>
            <a:r>
              <a:rPr lang="en-US" altLang="zh-TW" sz="2000" b="1">
                <a:solidFill>
                  <a:schemeClr val="accent2"/>
                </a:solidFill>
              </a:rPr>
              <a:t>99%</a:t>
            </a:r>
          </a:p>
          <a:p>
            <a:pPr marL="0" indent="0">
              <a:buNone/>
            </a:pPr>
            <a:r>
              <a:rPr lang="zh-TW" altLang="en-US" sz="2000" b="1">
                <a:solidFill>
                  <a:schemeClr val="accent2"/>
                </a:solidFill>
              </a:rPr>
              <a:t>儀表結線：</a:t>
            </a:r>
            <a:r>
              <a:rPr lang="en-US" altLang="zh-TW" sz="2000" b="1">
                <a:solidFill>
                  <a:schemeClr val="accent2"/>
                </a:solidFill>
              </a:rPr>
              <a:t>88%</a:t>
            </a:r>
            <a:endParaRPr lang="en-US" altLang="zh-TW" sz="20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總進度：</a:t>
            </a:r>
            <a:r>
              <a:rPr lang="en-US" altLang="zh-TW" sz="2000" b="1">
                <a:solidFill>
                  <a:schemeClr val="tx2"/>
                </a:solidFill>
              </a:rPr>
              <a:t>89.4%</a:t>
            </a:r>
          </a:p>
          <a:p>
            <a:pPr marL="0" indent="0">
              <a:spcBef>
                <a:spcPts val="500"/>
              </a:spcBef>
              <a:buNone/>
            </a:pPr>
            <a:endParaRPr lang="en-US" altLang="zh-TW" sz="2000" b="1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zh-TW" altLang="en-US" sz="2000" b="1">
                <a:solidFill>
                  <a:schemeClr val="tx2"/>
                </a:solidFill>
              </a:rPr>
              <a:t>案場協調項目：</a:t>
            </a:r>
            <a:endParaRPr lang="en-US" altLang="zh-TW" sz="2000" b="1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>
                <a:solidFill>
                  <a:schemeClr val="tx2"/>
                </a:solidFill>
              </a:rPr>
              <a:t>7</a:t>
            </a:r>
            <a:r>
              <a:rPr lang="zh-TW" altLang="en-US" sz="2000" b="1">
                <a:solidFill>
                  <a:schemeClr val="tx2"/>
                </a:solidFill>
              </a:rPr>
              <a:t> 月提供亞通管路組儀表無法安裝</a:t>
            </a:r>
            <a:r>
              <a:rPr lang="zh-TW" altLang="en-US" sz="2000" b="1">
                <a:solidFill>
                  <a:schemeClr val="accent2"/>
                </a:solidFill>
              </a:rPr>
              <a:t>餘 </a:t>
            </a:r>
            <a:r>
              <a:rPr lang="en-US" altLang="zh-TW" sz="2000" b="1">
                <a:solidFill>
                  <a:schemeClr val="accent2"/>
                </a:solidFill>
              </a:rPr>
              <a:t>5 </a:t>
            </a:r>
            <a:r>
              <a:rPr lang="zh-TW" altLang="en-US" sz="2000" b="1">
                <a:solidFill>
                  <a:schemeClr val="tx2"/>
                </a:solidFill>
              </a:rPr>
              <a:t>處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000" b="1">
                <a:solidFill>
                  <a:schemeClr val="tx2"/>
                </a:solidFill>
              </a:rPr>
              <a:t>9/17</a:t>
            </a:r>
            <a:r>
              <a:rPr lang="zh-TW" altLang="en-US" sz="2000" b="1">
                <a:solidFill>
                  <a:schemeClr val="tx2"/>
                </a:solidFill>
              </a:rPr>
              <a:t> 亞通管路組提 </a:t>
            </a:r>
            <a:r>
              <a:rPr lang="en-US" altLang="zh-TW" sz="2000" b="1">
                <a:solidFill>
                  <a:schemeClr val="tx2"/>
                </a:solidFill>
              </a:rPr>
              <a:t>TIT</a:t>
            </a:r>
            <a:r>
              <a:rPr lang="zh-TW" altLang="en-US" sz="2000" b="1">
                <a:solidFill>
                  <a:schemeClr val="tx2"/>
                </a:solidFill>
              </a:rPr>
              <a:t>（溫度傳訊器）</a:t>
            </a:r>
            <a:r>
              <a:rPr lang="zh-TW" altLang="en-US" sz="2000" b="1">
                <a:solidFill>
                  <a:schemeClr val="accent2"/>
                </a:solidFill>
              </a:rPr>
              <a:t>已完成</a:t>
            </a:r>
            <a:endParaRPr lang="zh-TW" altLang="en-US" sz="2000" b="1">
              <a:solidFill>
                <a:schemeClr val="tx2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84F2D9C-ACF8-637D-6C3C-686BD8D1B6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810"/>
          <a:stretch>
            <a:fillRect/>
          </a:stretch>
        </p:blipFill>
        <p:spPr bwMode="auto">
          <a:xfrm>
            <a:off x="4666535" y="2221076"/>
            <a:ext cx="6480000" cy="2248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54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4E1A27CA-4BAE-5BF5-65AB-EBA8BC0C1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 dirty="0">
                <a:solidFill>
                  <a:schemeClr val="bg2"/>
                </a:solidFill>
              </a:rPr>
              <a:t>施工進度表</a:t>
            </a: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8B3EAC18-DB18-5465-5A70-F57A9D11617D}"/>
              </a:ext>
            </a:extLst>
          </p:cNvPr>
          <p:cNvGrpSpPr/>
          <p:nvPr/>
        </p:nvGrpSpPr>
        <p:grpSpPr>
          <a:xfrm>
            <a:off x="12000" y="2061759"/>
            <a:ext cx="12204000" cy="4568824"/>
            <a:chOff x="12000" y="1991013"/>
            <a:chExt cx="12204000" cy="4568824"/>
          </a:xfrm>
        </p:grpSpPr>
        <p:pic>
          <p:nvPicPr>
            <p:cNvPr id="4" name="圖片 2">
              <a:extLst>
                <a:ext uri="{FF2B5EF4-FFF2-40B4-BE49-F238E27FC236}">
                  <a16:creationId xmlns:a16="http://schemas.microsoft.com/office/drawing/2014/main" id="{E3E60CB1-4E19-1C51-81BE-95907CDC62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0" y="2648733"/>
              <a:ext cx="6084000" cy="3253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EF4A778D-4675-C74F-0619-44B3813B4389}"/>
                </a:ext>
              </a:extLst>
            </p:cNvPr>
            <p:cNvGrpSpPr/>
            <p:nvPr/>
          </p:nvGrpSpPr>
          <p:grpSpPr>
            <a:xfrm>
              <a:off x="6096000" y="1991013"/>
              <a:ext cx="6120000" cy="4568824"/>
              <a:chOff x="6096000" y="2049464"/>
              <a:chExt cx="5746750" cy="4568824"/>
            </a:xfrm>
          </p:grpSpPr>
          <p:pic>
            <p:nvPicPr>
              <p:cNvPr id="8" name="圖片 4">
                <a:extLst>
                  <a:ext uri="{FF2B5EF4-FFF2-40B4-BE49-F238E27FC236}">
                    <a16:creationId xmlns:a16="http://schemas.microsoft.com/office/drawing/2014/main" id="{5A1F9843-CBF4-A7B8-CC59-B993DE5644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6000" y="5984875"/>
                <a:ext cx="2149475" cy="6334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圖片 7">
                <a:extLst>
                  <a:ext uri="{FF2B5EF4-FFF2-40B4-BE49-F238E27FC236}">
                    <a16:creationId xmlns:a16="http://schemas.microsoft.com/office/drawing/2014/main" id="{FA0056E6-3935-059D-3B5C-48EF428364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45475" y="5984875"/>
                <a:ext cx="3597275" cy="6334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圖片 9">
                <a:extLst>
                  <a:ext uri="{FF2B5EF4-FFF2-40B4-BE49-F238E27FC236}">
                    <a16:creationId xmlns:a16="http://schemas.microsoft.com/office/drawing/2014/main" id="{09E1049B-FA88-21A6-162F-312E50917B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96000" y="2049464"/>
                <a:ext cx="5712946" cy="3912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1C170-F040-CA04-6085-247771478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4B659C5A-D824-B94A-97C7-E2FE0D79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儀表安裝、配管工程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3" name="Picture 20484" descr="image.jpeg">
            <a:extLst>
              <a:ext uri="{FF2B5EF4-FFF2-40B4-BE49-F238E27FC236}">
                <a16:creationId xmlns:a16="http://schemas.microsoft.com/office/drawing/2014/main" id="{EB047C21-6693-45B6-88DB-8121825AB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9" y="1828800"/>
            <a:ext cx="2873514" cy="2155622"/>
          </a:xfrm>
          <a:prstGeom prst="rect">
            <a:avLst/>
          </a:prstGeom>
        </p:spPr>
      </p:pic>
      <p:pic>
        <p:nvPicPr>
          <p:cNvPr id="7" name="Picture 20485" descr="image.jpeg">
            <a:extLst>
              <a:ext uri="{FF2B5EF4-FFF2-40B4-BE49-F238E27FC236}">
                <a16:creationId xmlns:a16="http://schemas.microsoft.com/office/drawing/2014/main" id="{96366629-85BD-2F15-C55A-C2F33BAC8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443" y="1828800"/>
            <a:ext cx="2873514" cy="2155622"/>
          </a:xfrm>
          <a:prstGeom prst="rect">
            <a:avLst/>
          </a:prstGeom>
        </p:spPr>
      </p:pic>
      <p:pic>
        <p:nvPicPr>
          <p:cNvPr id="9" name="Picture 20486" descr="image.jpeg">
            <a:extLst>
              <a:ext uri="{FF2B5EF4-FFF2-40B4-BE49-F238E27FC236}">
                <a16:creationId xmlns:a16="http://schemas.microsoft.com/office/drawing/2014/main" id="{E80A15DD-D136-B934-49FB-028F2F482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678" y="1828800"/>
            <a:ext cx="1617081" cy="2155622"/>
          </a:xfrm>
          <a:prstGeom prst="rect">
            <a:avLst/>
          </a:prstGeom>
        </p:spPr>
      </p:pic>
      <p:pic>
        <p:nvPicPr>
          <p:cNvPr id="11" name="Picture 20487" descr="image.jpeg">
            <a:extLst>
              <a:ext uri="{FF2B5EF4-FFF2-40B4-BE49-F238E27FC236}">
                <a16:creationId xmlns:a16="http://schemas.microsoft.com/office/drawing/2014/main" id="{779D6CE2-5721-5A55-1E74-867C11151E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157" y="4030142"/>
            <a:ext cx="3695967" cy="2772601"/>
          </a:xfrm>
          <a:prstGeom prst="rect">
            <a:avLst/>
          </a:prstGeom>
        </p:spPr>
      </p:pic>
      <p:pic>
        <p:nvPicPr>
          <p:cNvPr id="13" name="Picture 20488" descr="image.jpeg">
            <a:extLst>
              <a:ext uri="{FF2B5EF4-FFF2-40B4-BE49-F238E27FC236}">
                <a16:creationId xmlns:a16="http://schemas.microsoft.com/office/drawing/2014/main" id="{8373BD25-190D-9B2E-BFFC-3FC91E46E3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8844" y="4030142"/>
            <a:ext cx="3695967" cy="277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8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8845-08AE-9EDB-D5BE-E9D7C086F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2A71F04D-82A5-9B3E-C30B-A47387AE3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579" y="466343"/>
            <a:ext cx="10348842" cy="1362113"/>
          </a:xfrm>
        </p:spPr>
        <p:txBody>
          <a:bodyPr>
            <a:normAutofit/>
          </a:bodyPr>
          <a:lstStyle/>
          <a:p>
            <a:pPr algn="ctr"/>
            <a:r>
              <a:rPr lang="zh-TW" altLang="en-US" sz="2600" b="1">
                <a:solidFill>
                  <a:schemeClr val="bg2"/>
                </a:solidFill>
              </a:rPr>
              <a:t>儀表安裝、配管工程</a:t>
            </a:r>
            <a:endParaRPr lang="zh-TW" altLang="en-US" sz="2600" b="1" dirty="0">
              <a:solidFill>
                <a:schemeClr val="bg2"/>
              </a:solidFill>
            </a:endParaRPr>
          </a:p>
        </p:txBody>
      </p:sp>
      <p:pic>
        <p:nvPicPr>
          <p:cNvPr id="3" name="Picture 22532" descr="image.jpeg">
            <a:extLst>
              <a:ext uri="{FF2B5EF4-FFF2-40B4-BE49-F238E27FC236}">
                <a16:creationId xmlns:a16="http://schemas.microsoft.com/office/drawing/2014/main" id="{E5364FBD-3707-BC2A-C0B8-86C70CF00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52" y="1828800"/>
            <a:ext cx="3277875" cy="2458961"/>
          </a:xfrm>
          <a:prstGeom prst="rect">
            <a:avLst/>
          </a:prstGeom>
        </p:spPr>
      </p:pic>
      <p:pic>
        <p:nvPicPr>
          <p:cNvPr id="5" name="Picture 22533" descr="image.jpeg">
            <a:extLst>
              <a:ext uri="{FF2B5EF4-FFF2-40B4-BE49-F238E27FC236}">
                <a16:creationId xmlns:a16="http://schemas.microsoft.com/office/drawing/2014/main" id="{171689BD-79EE-12ED-B592-A130016DD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047" y="1828800"/>
            <a:ext cx="3277875" cy="2458961"/>
          </a:xfrm>
          <a:prstGeom prst="rect">
            <a:avLst/>
          </a:prstGeom>
        </p:spPr>
      </p:pic>
      <p:pic>
        <p:nvPicPr>
          <p:cNvPr id="8" name="Picture 22534" descr="image.jpeg">
            <a:extLst>
              <a:ext uri="{FF2B5EF4-FFF2-40B4-BE49-F238E27FC236}">
                <a16:creationId xmlns:a16="http://schemas.microsoft.com/office/drawing/2014/main" id="{FA1E7A1F-012D-EC81-4116-B2BCEE59B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642" y="1828800"/>
            <a:ext cx="3277875" cy="2458961"/>
          </a:xfrm>
          <a:prstGeom prst="rect">
            <a:avLst/>
          </a:prstGeom>
        </p:spPr>
      </p:pic>
      <p:pic>
        <p:nvPicPr>
          <p:cNvPr id="10" name="Picture 22535" descr="image.jpeg">
            <a:extLst>
              <a:ext uri="{FF2B5EF4-FFF2-40B4-BE49-F238E27FC236}">
                <a16:creationId xmlns:a16="http://schemas.microsoft.com/office/drawing/2014/main" id="{49FF711A-366B-41DB-7AEB-13F810C7B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452" y="4333481"/>
            <a:ext cx="3279169" cy="2459931"/>
          </a:xfrm>
          <a:prstGeom prst="rect">
            <a:avLst/>
          </a:prstGeom>
        </p:spPr>
      </p:pic>
      <p:pic>
        <p:nvPicPr>
          <p:cNvPr id="12" name="Picture 22536" descr="image.jpeg">
            <a:extLst>
              <a:ext uri="{FF2B5EF4-FFF2-40B4-BE49-F238E27FC236}">
                <a16:creationId xmlns:a16="http://schemas.microsoft.com/office/drawing/2014/main" id="{ECA0A903-1D2A-CBD2-321F-B6E12D791A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8341" y="4333481"/>
            <a:ext cx="3275287" cy="2459931"/>
          </a:xfrm>
          <a:prstGeom prst="rect">
            <a:avLst/>
          </a:prstGeom>
        </p:spPr>
      </p:pic>
      <p:pic>
        <p:nvPicPr>
          <p:cNvPr id="14" name="Picture 22537" descr="image.jpeg">
            <a:extLst>
              <a:ext uri="{FF2B5EF4-FFF2-40B4-BE49-F238E27FC236}">
                <a16:creationId xmlns:a16="http://schemas.microsoft.com/office/drawing/2014/main" id="{526A2599-A727-B910-6762-4B10E0E4BE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9348" y="4333481"/>
            <a:ext cx="3279169" cy="245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教育類主題 16x9">
  <a:themeElements>
    <a:clrScheme name="自訂 1">
      <a:dk1>
        <a:srgbClr val="1F497D"/>
      </a:dk1>
      <a:lt1>
        <a:srgbClr val="EEECE1"/>
      </a:lt1>
      <a:dk2>
        <a:srgbClr val="1F497D"/>
      </a:dk2>
      <a:lt2>
        <a:srgbClr val="DBE5F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0525322_TF03462902_TF03462902.potx" id="{75934AA0-EA7E-48C9-AC6C-B8776C9980C1}" vid="{F712579A-141C-4177-A05B-4907AD265093}"/>
    </a:ext>
  </a:extLst>
</a:theme>
</file>

<file path=ppt/theme/theme2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教育類主題簡報：黑板手繪設計 (寬螢幕)</Template>
  <TotalTime>23884</TotalTime>
  <Words>220</Words>
  <Application>Microsoft Office PowerPoint</Application>
  <PresentationFormat>寬螢幕</PresentationFormat>
  <Paragraphs>36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Microsoft JhengHei UI</vt:lpstr>
      <vt:lpstr>微軟正黑體</vt:lpstr>
      <vt:lpstr>Wingdings</vt:lpstr>
      <vt:lpstr>教育類主題 16x9</vt:lpstr>
      <vt:lpstr>PowerPoint 簡報</vt:lpstr>
      <vt:lpstr>兆豐銀行－宏明</vt:lpstr>
      <vt:lpstr>兆豐銀行－宏明</vt:lpstr>
      <vt:lpstr>監控箱鎖固</vt:lpstr>
      <vt:lpstr>ACP箱體</vt:lpstr>
      <vt:lpstr>線槽安裝</vt:lpstr>
      <vt:lpstr>AC、DC佈線</vt:lpstr>
      <vt:lpstr>台以八翁－宏明</vt:lpstr>
      <vt:lpstr>法蘭摩沙－鎮寶、名湶、俊雄</vt:lpstr>
      <vt:lpstr>施工進度表</vt:lpstr>
      <vt:lpstr>儀表安裝、配管工程</vt:lpstr>
      <vt:lpstr>儀表安裝、配管工程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工程部週會 會議記錄</dc:title>
  <dc:creator>user</dc:creator>
  <cp:lastModifiedBy>User6</cp:lastModifiedBy>
  <cp:revision>1612</cp:revision>
  <dcterms:created xsi:type="dcterms:W3CDTF">2024-09-06T09:16:56Z</dcterms:created>
  <dcterms:modified xsi:type="dcterms:W3CDTF">2026-10-08T06:09:58Z</dcterms:modified>
</cp:coreProperties>
</file>
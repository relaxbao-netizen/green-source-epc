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4" r:id="rId2"/>
    <p:sldId id="705" r:id="rId3"/>
    <p:sldId id="711" r:id="rId4"/>
    <p:sldId id="714" r:id="rId5"/>
    <p:sldId id="717" r:id="rId6"/>
    <p:sldId id="718" r:id="rId7"/>
    <p:sldId id="704" r:id="rId8"/>
    <p:sldId id="719" r:id="rId9"/>
    <p:sldId id="707" r:id="rId10"/>
    <p:sldId id="328" r:id="rId11"/>
    <p:sldId id="715" r:id="rId12"/>
    <p:sldId id="716" r:id="rId13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6041" autoAdjust="0"/>
  </p:normalViewPr>
  <p:slideViewPr>
    <p:cSldViewPr snapToGrid="0">
      <p:cViewPr varScale="1">
        <p:scale>
          <a:sx n="105" d="100"/>
          <a:sy n="105" d="100"/>
        </p:scale>
        <p:origin x="7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280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預留位置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D62E987-7EBA-43A6-9FB1-518ACC0C0016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2026/10/16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2977E94-A6AB-4E02-8E43-E89F9CF4757F}" type="slidenum"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1CB75E-0C48-4433-BA77-C1F21AF9D86A}" type="datetime1">
              <a:rPr lang="zh-TW" altLang="en-US" smtClean="0"/>
              <a:pPr/>
              <a:t>2026/10/16</a:t>
            </a:fld>
            <a:endParaRPr lang="zh-TW" altLang="en-US" dirty="0"/>
          </a:p>
        </p:txBody>
      </p:sp>
      <p:sp>
        <p:nvSpPr>
          <p:cNvPr id="4" name="投影片影像預留位置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dirty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ED491D0-8E1B-49C7-849B-A28568D94497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>
            <a:extLst>
              <a:ext uri="{FF2B5EF4-FFF2-40B4-BE49-F238E27FC236}">
                <a16:creationId xmlns:a16="http://schemas.microsoft.com/office/drawing/2014/main" id="{3A164D86-336A-2349-15E8-4207643B70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>
            <a:extLst>
              <a:ext uri="{FF2B5EF4-FFF2-40B4-BE49-F238E27FC236}">
                <a16:creationId xmlns:a16="http://schemas.microsoft.com/office/drawing/2014/main" id="{29D28226-2CF5-2647-2375-67D263B7B7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9460" name="投影片編號版面配置區 3">
            <a:extLst>
              <a:ext uri="{FF2B5EF4-FFF2-40B4-BE49-F238E27FC236}">
                <a16:creationId xmlns:a16="http://schemas.microsoft.com/office/drawing/2014/main" id="{D5876671-0B37-C563-CA3E-398DC9924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>
              <a:spcBef>
                <a:spcPct val="0"/>
              </a:spcBef>
            </a:pPr>
            <a:fld id="{21C9B475-2160-4D0D-B775-07063B412602}" type="slidenum">
              <a:rPr lang="en-US" altLang="zh-TW" smtClean="0"/>
              <a:pPr>
                <a:spcBef>
                  <a:spcPct val="0"/>
                </a:spcBef>
              </a:pPr>
              <a:t>10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rtlCol="0"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11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D869B4D-421E-43A3-BBAA-8CCFA957A67D}" type="datetime1">
              <a:rPr lang="zh-TW" altLang="en-US" smtClean="0"/>
              <a:t>2026/10/16</a:t>
            </a:fld>
            <a:endParaRPr lang="zh-TW" altLang="en-US" dirty="0"/>
          </a:p>
        </p:txBody>
      </p:sp>
      <p:sp>
        <p:nvSpPr>
          <p:cNvPr id="12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zh-TW" altLang="en-US" dirty="0"/>
          </a:p>
        </p:txBody>
      </p:sp>
      <p:sp>
        <p:nvSpPr>
          <p:cNvPr id="13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2C5D44-5C85-485C-A00E-3A215B865BFF}" type="datetime1">
              <a:rPr lang="zh-TW" altLang="en-US" smtClean="0"/>
              <a:t>2026/10/16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 rtlCol="0"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A14740C-1CD2-4B76-9AEA-8BECFA354BC5}" type="datetime1">
              <a:rPr lang="zh-TW" altLang="en-US" smtClean="0"/>
              <a:t>2026/10/16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4F1B4F-4B27-41CF-A46C-C0E416EBA6A3}" type="datetime1">
              <a:rPr lang="zh-TW" altLang="en-US" smtClean="0"/>
              <a:t>2026/10/16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日期預留位置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F5A7E8-AC39-4209-B53D-28B070EB2637}" type="datetime1">
              <a:rPr lang="zh-TW" altLang="en-US" smtClean="0"/>
              <a:t>2026/10/16</a:t>
            </a:fld>
            <a:endParaRPr lang="zh-TW" altLang="en-US" dirty="0"/>
          </a:p>
        </p:txBody>
      </p:sp>
      <p:sp>
        <p:nvSpPr>
          <p:cNvPr id="8" name="頁尾預留位置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4A37D3-65DB-46B6-81BC-43363DB4BC67}" type="datetime1">
              <a:rPr lang="zh-TW" altLang="en-US" smtClean="0"/>
              <a:t>2026/10/16</a:t>
            </a:fld>
            <a:endParaRPr lang="zh-TW" altLang="en-US" dirty="0"/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預留位置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63B5AA-F24B-482A-91F0-C543E9D06BFE}" type="datetime1">
              <a:rPr lang="zh-TW" altLang="en-US" smtClean="0"/>
              <a:t>2026/10/16</a:t>
            </a:fld>
            <a:endParaRPr lang="zh-TW" altLang="en-US" dirty="0"/>
          </a:p>
        </p:txBody>
      </p:sp>
      <p:sp>
        <p:nvSpPr>
          <p:cNvPr id="3" name="頁尾預留位置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>
            <a:lvl1pPr>
              <a:defRPr sz="3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文字預留位置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 rtlCol="0"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3" name="內容預留位置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 rtlCol="0"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26CB77-6226-4325-8851-4C25870E44A4}" type="datetime1">
              <a:rPr lang="zh-TW" altLang="en-US" smtClean="0"/>
              <a:t>2026/10/16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>
            <a:lvl1pPr>
              <a:defRPr sz="3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 rtlCol="0"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3" name="圖片預留位置 2" descr="要新增影像的空白預留位置。按一下預留位置，然後選取您要新增的影像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402A5DE-81A3-4C0F-B253-6B97355A8EFB}" type="datetime1">
              <a:rPr lang="zh-TW" altLang="en-US" smtClean="0"/>
              <a:t>2026/10/16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vert"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B3D213-BE9F-47D9-B14D-790FF4D46DDE}" type="datetime1">
              <a:rPr lang="zh-TW" altLang="en-US" smtClean="0"/>
              <a:t>2026/10/16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vert"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vert"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 rtlCol="0"/>
          <a:lstStyle/>
          <a:p>
            <a:pPr rtl="0"/>
            <a:fld id="{5E5D3233-A6CF-47E7-8A67-907069E6709A}" type="datetime1">
              <a:rPr lang="zh-TW" altLang="en-US" smtClean="0"/>
              <a:t>2026/10/16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標題預留位置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  <a:p>
            <a:pPr lvl="5" rtl="0"/>
            <a:r>
              <a:rPr lang="zh-TW" altLang="en-US" dirty="0"/>
              <a:t>第六</a:t>
            </a:r>
          </a:p>
          <a:p>
            <a:pPr lvl="6" rtl="0"/>
            <a:r>
              <a:rPr lang="zh-TW" altLang="en-US" dirty="0"/>
              <a:t>第七</a:t>
            </a:r>
          </a:p>
          <a:p>
            <a:pPr lvl="7" rtl="0"/>
            <a:r>
              <a:rPr lang="zh-TW" altLang="en-US" dirty="0"/>
              <a:t>第八</a:t>
            </a:r>
          </a:p>
          <a:p>
            <a:pPr lvl="8" rtl="0"/>
            <a:r>
              <a:rPr lang="zh-TW" altLang="en-US" dirty="0"/>
              <a:t>第九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452E09C-297D-4B4B-9D8E-547194E495B4}" type="datetime1">
              <a:rPr lang="zh-TW" altLang="en-US" smtClean="0"/>
              <a:t>2026/10/16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8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03813" y="1298089"/>
            <a:ext cx="441659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6000" b="1" spc="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工程部週報</a:t>
            </a:r>
          </a:p>
        </p:txBody>
      </p:sp>
      <p:sp>
        <p:nvSpPr>
          <p:cNvPr id="4" name="矩形 3"/>
          <p:cNvSpPr/>
          <p:nvPr/>
        </p:nvSpPr>
        <p:spPr>
          <a:xfrm>
            <a:off x="261270" y="26127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b="1" spc="3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綠源科技股份有限公司</a:t>
            </a:r>
          </a:p>
          <a:p>
            <a:r>
              <a:rPr lang="en-US" altLang="zh-TW" b="1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Green Source Technology</a:t>
            </a:r>
          </a:p>
        </p:txBody>
      </p:sp>
      <p:sp>
        <p:nvSpPr>
          <p:cNvPr id="5" name="矩形 4"/>
          <p:cNvSpPr/>
          <p:nvPr/>
        </p:nvSpPr>
        <p:spPr>
          <a:xfrm>
            <a:off x="4031440" y="2397642"/>
            <a:ext cx="39613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2026/10/12</a:t>
            </a:r>
            <a:r>
              <a:rPr lang="zh-TW" altLang="en-US" sz="2400" b="1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lang="en-US" altLang="zh-TW" sz="2400" b="1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2026/10/16</a:t>
            </a:r>
            <a:endParaRPr lang="en-US" altLang="zh-TW" sz="2400" b="1" dirty="0">
              <a:solidFill>
                <a:schemeClr val="accent2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5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9FEA5-39C3-2BCD-E8F6-5A82078B5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FD5AF16A-A619-0074-2A3A-3C65FAAAA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9" y="2221076"/>
            <a:ext cx="9688504" cy="4449872"/>
          </a:xfrm>
        </p:spPr>
        <p:txBody>
          <a:bodyPr>
            <a:noAutofit/>
          </a:bodyPr>
          <a:lstStyle/>
          <a:p>
            <a:r>
              <a:rPr lang="zh-TW" altLang="en-US" sz="2000" b="1" dirty="0"/>
              <a:t>工程事項：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支架組裝 </a:t>
            </a:r>
            <a:r>
              <a:rPr lang="en-US" altLang="zh-TW" sz="2000" b="1"/>
              <a:t>86%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模組安裝 </a:t>
            </a:r>
            <a:r>
              <a:rPr lang="en-US" altLang="zh-TW" sz="2000" b="1"/>
              <a:t>85.2%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變流器安裝 </a:t>
            </a:r>
            <a:r>
              <a:rPr lang="en-US" altLang="zh-TW" sz="2000" b="1"/>
              <a:t>100%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儲能櫃安裝 </a:t>
            </a:r>
            <a:r>
              <a:rPr lang="en-US" altLang="zh-TW" sz="2000" b="1"/>
              <a:t>90%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直流線路架設 </a:t>
            </a:r>
            <a:r>
              <a:rPr lang="en-US" altLang="zh-TW" sz="2000" b="1"/>
              <a:t>97%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箱體施工－</a:t>
            </a:r>
            <a:r>
              <a:rPr lang="en-US" altLang="zh-TW" sz="2000" b="1"/>
              <a:t>ACP</a:t>
            </a:r>
            <a:r>
              <a:rPr lang="zh-TW" altLang="en-US" sz="2000" b="1"/>
              <a:t>、監控箱安裝鎖固 </a:t>
            </a:r>
            <a:r>
              <a:rPr lang="en-US" altLang="zh-TW" sz="2000" b="1"/>
              <a:t>65%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交流線路施工 </a:t>
            </a:r>
            <a:r>
              <a:rPr lang="en-US" altLang="zh-TW" sz="2000" b="1"/>
              <a:t>68%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E63B7D18-10FF-8D4A-4814-534B43991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兆豐銀行－宏明</a:t>
            </a:r>
          </a:p>
        </p:txBody>
      </p:sp>
    </p:spTree>
    <p:extLst>
      <p:ext uri="{BB962C8B-B14F-4D97-AF65-F5344CB8AC3E}">
        <p14:creationId xmlns:p14="http://schemas.microsoft.com/office/powerpoint/2010/main" val="1156721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E8D60-5715-851E-6DE8-D1C7DA5DE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D64B76FD-3501-D702-8E4B-E7BD7A14B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9" y="2221076"/>
            <a:ext cx="9688504" cy="4449872"/>
          </a:xfrm>
        </p:spPr>
        <p:txBody>
          <a:bodyPr>
            <a:noAutofit/>
          </a:bodyPr>
          <a:lstStyle/>
          <a:p>
            <a:r>
              <a:rPr lang="zh-TW" altLang="en-US" sz="2000" b="1"/>
              <a:t>追蹤</a:t>
            </a:r>
            <a:r>
              <a:rPr lang="zh-TW" altLang="en-US" sz="2000" b="1" dirty="0"/>
              <a:t>事項：</a:t>
            </a:r>
          </a:p>
          <a:p>
            <a:pPr marL="0" indent="0">
              <a:buNone/>
            </a:pPr>
            <a:r>
              <a:rPr lang="zh-TW" altLang="en-US" sz="2000" b="1"/>
              <a:t>追蹤後續 </a:t>
            </a:r>
            <a:r>
              <a:rPr lang="en-US" altLang="zh-TW" sz="2000" b="1"/>
              <a:t>AC</a:t>
            </a:r>
            <a:r>
              <a:rPr lang="zh-TW" altLang="en-US" sz="2000" b="1"/>
              <a:t> 盤體內部配件</a:t>
            </a:r>
            <a:r>
              <a:rPr lang="en-US" altLang="zh-TW" sz="2000" b="1"/>
              <a:t>…</a:t>
            </a:r>
            <a:r>
              <a:rPr lang="zh-TW" altLang="en-US" sz="2000" b="1"/>
              <a:t>等物料進場及鋼構施工人員進場</a:t>
            </a:r>
            <a:endParaRPr lang="en-US" altLang="zh-TW" sz="2000" b="1"/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變流器壓克力牌 </a:t>
            </a:r>
            <a:r>
              <a:rPr lang="en-US" altLang="zh-TW" sz="2000" b="1"/>
              <a:t>-</a:t>
            </a:r>
            <a:r>
              <a:rPr lang="zh-TW" altLang="en-US" sz="2000" b="1"/>
              <a:t> </a:t>
            </a:r>
            <a:r>
              <a:rPr lang="zh-TW" altLang="en-US" sz="2000" b="1">
                <a:solidFill>
                  <a:schemeClr val="accent2"/>
                </a:solidFill>
              </a:rPr>
              <a:t>辛晴</a:t>
            </a:r>
            <a:endParaRPr lang="en-US" altLang="zh-TW" sz="2000" b="1">
              <a:solidFill>
                <a:schemeClr val="accent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鋼構 </a:t>
            </a:r>
            <a:r>
              <a:rPr lang="en-US" altLang="zh-TW" sz="2000" b="1"/>
              <a:t>-</a:t>
            </a:r>
            <a:r>
              <a:rPr lang="zh-TW" altLang="en-US" sz="2000" b="1"/>
              <a:t> 鏽點補高鋅漆、鎖固、定磅、畫線標 </a:t>
            </a:r>
            <a:r>
              <a:rPr lang="en-US" altLang="zh-TW" sz="2000" b="1"/>
              <a:t>-</a:t>
            </a:r>
            <a:r>
              <a:rPr lang="zh-TW" altLang="en-US" sz="2000" b="1"/>
              <a:t> </a:t>
            </a:r>
            <a:r>
              <a:rPr lang="zh-TW" altLang="en-US" sz="2000" b="1">
                <a:solidFill>
                  <a:schemeClr val="accent2"/>
                </a:solidFill>
              </a:rPr>
              <a:t>辛晴</a:t>
            </a:r>
            <a:endParaRPr lang="en-US" altLang="zh-TW" sz="2000" b="1">
              <a:solidFill>
                <a:schemeClr val="accent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/>
              <a:t>ACP</a:t>
            </a:r>
            <a:r>
              <a:rPr lang="zh-TW" altLang="en-US" sz="2000" b="1"/>
              <a:t> 箱體內配件（</a:t>
            </a:r>
            <a:r>
              <a:rPr lang="en-US" altLang="zh-TW" sz="2000" b="1"/>
              <a:t>CT</a:t>
            </a:r>
            <a:r>
              <a:rPr lang="zh-TW" altLang="en-US" sz="2000" b="1"/>
              <a:t>）到貨時間 </a:t>
            </a:r>
            <a:r>
              <a:rPr lang="en-US" altLang="zh-TW" sz="2000" b="1"/>
              <a:t>-</a:t>
            </a:r>
            <a:r>
              <a:rPr lang="zh-TW" altLang="en-US" sz="2000" b="1"/>
              <a:t> </a:t>
            </a:r>
            <a:r>
              <a:rPr lang="zh-TW" altLang="en-US" sz="2000" b="1">
                <a:solidFill>
                  <a:schemeClr val="accent2"/>
                </a:solidFill>
              </a:rPr>
              <a:t>採購</a:t>
            </a:r>
            <a:endParaRPr lang="en-US" altLang="zh-TW" sz="2000" b="1">
              <a:solidFill>
                <a:schemeClr val="accent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/>
              <a:t>SUN</a:t>
            </a:r>
            <a:r>
              <a:rPr lang="zh-TW" altLang="en-US" sz="2000" b="1"/>
              <a:t>～</a:t>
            </a:r>
            <a:r>
              <a:rPr lang="en-US" altLang="zh-TW" sz="2000" b="1"/>
              <a:t>ACP</a:t>
            </a:r>
            <a:r>
              <a:rPr lang="zh-TW" altLang="en-US" sz="2000" b="1"/>
              <a:t> 配線及模組獨立接地及 </a:t>
            </a:r>
            <a:r>
              <a:rPr lang="en-US" altLang="zh-TW" sz="2000" b="1"/>
              <a:t>SUN</a:t>
            </a:r>
            <a:r>
              <a:rPr lang="zh-TW" altLang="en-US" sz="2000" b="1"/>
              <a:t>～監控相 </a:t>
            </a:r>
            <a:r>
              <a:rPr lang="en-US" altLang="zh-TW" sz="2000" b="1"/>
              <a:t>220V</a:t>
            </a:r>
            <a:r>
              <a:rPr lang="zh-TW" altLang="en-US" sz="2000" b="1"/>
              <a:t> 完成時間 </a:t>
            </a:r>
            <a:r>
              <a:rPr lang="en-US" altLang="zh-TW" sz="2000" b="1"/>
              <a:t>-</a:t>
            </a:r>
            <a:r>
              <a:rPr lang="zh-TW" altLang="en-US" sz="2000" b="1"/>
              <a:t> </a:t>
            </a:r>
            <a:r>
              <a:rPr lang="zh-TW" altLang="en-US" sz="2000" b="1">
                <a:solidFill>
                  <a:schemeClr val="accent2"/>
                </a:solidFill>
              </a:rPr>
              <a:t>夆典</a:t>
            </a:r>
            <a:endParaRPr lang="en-US" altLang="zh-TW" sz="2000" b="1">
              <a:solidFill>
                <a:schemeClr val="accent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收縮水泥證明單用印 </a:t>
            </a:r>
            <a:r>
              <a:rPr lang="en-US" altLang="zh-TW" sz="2000" b="1"/>
              <a:t>-</a:t>
            </a:r>
            <a:r>
              <a:rPr lang="zh-TW" altLang="en-US" sz="2000" b="1"/>
              <a:t> </a:t>
            </a:r>
            <a:r>
              <a:rPr lang="zh-TW" altLang="en-US" sz="2000" b="1">
                <a:solidFill>
                  <a:schemeClr val="accent2"/>
                </a:solidFill>
              </a:rPr>
              <a:t>辛晴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8471734B-567F-E5B7-B0FC-52FE0845D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兆豐銀行－宏明</a:t>
            </a:r>
          </a:p>
        </p:txBody>
      </p:sp>
    </p:spTree>
    <p:extLst>
      <p:ext uri="{BB962C8B-B14F-4D97-AF65-F5344CB8AC3E}">
        <p14:creationId xmlns:p14="http://schemas.microsoft.com/office/powerpoint/2010/main" val="135213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A782C-B7F7-634A-A9F2-9C7EE8D70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EBEA2A0D-1F51-516A-804E-30AC641FF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>
                <a:solidFill>
                  <a:schemeClr val="bg2"/>
                </a:solidFill>
              </a:rPr>
              <a:t>監控箱</a:t>
            </a:r>
            <a:endParaRPr lang="zh-TW" altLang="en-US" sz="2600" b="1" dirty="0">
              <a:solidFill>
                <a:schemeClr val="bg2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D6FFA9A-CECE-121F-2467-35C858F36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346535"/>
              </p:ext>
            </p:extLst>
          </p:nvPr>
        </p:nvGraphicFramePr>
        <p:xfrm>
          <a:off x="3791267" y="5441025"/>
          <a:ext cx="4609466" cy="10971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1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未完成項目</a:t>
                      </a:r>
                    </a:p>
                  </a:txBody>
                  <a:tcPr marL="91449" marR="91449" marT="45697" marB="456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執行單位</a:t>
                      </a:r>
                    </a:p>
                  </a:txBody>
                  <a:tcPr marL="91449" marR="91449" marT="45697" marB="456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備註</a:t>
                      </a:r>
                    </a:p>
                  </a:txBody>
                  <a:tcPr marL="91449" marR="91449" marT="45697" marB="4569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r>
                        <a:rPr lang="en-US" altLang="zh-TW" sz="1800" b="1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220V </a:t>
                      </a:r>
                      <a:r>
                        <a:rPr lang="zh-TW" altLang="en-US" sz="1800" b="1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電源</a:t>
                      </a:r>
                      <a:r>
                        <a:rPr lang="zh-TW" altLang="en-US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線</a:t>
                      </a:r>
                    </a:p>
                  </a:txBody>
                  <a:tcPr marL="91449" marR="91449" marT="45697" marB="456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夆典</a:t>
                      </a:r>
                    </a:p>
                  </a:txBody>
                  <a:tcPr marL="91449" marR="91449" marT="45697" marB="45697"/>
                </a:tc>
                <a:tc>
                  <a:txBody>
                    <a:bodyPr/>
                    <a:lstStyle/>
                    <a:p>
                      <a:r>
                        <a:rPr lang="en-US" altLang="zh-TW" sz="1800" b="1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10/13 </a:t>
                      </a:r>
                      <a:r>
                        <a:rPr lang="zh-TW" altLang="en-US" sz="1800" b="1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通知</a:t>
                      </a:r>
                      <a:r>
                        <a:rPr lang="zh-TW" altLang="en-US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人維</a:t>
                      </a:r>
                    </a:p>
                  </a:txBody>
                  <a:tcPr marL="91449" marR="91449" marT="45697" marB="4569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r>
                        <a:rPr lang="zh-TW" altLang="en-US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網路線</a:t>
                      </a:r>
                    </a:p>
                  </a:txBody>
                  <a:tcPr marL="91449" marR="91449" marT="45697" marB="4569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夆典</a:t>
                      </a:r>
                    </a:p>
                  </a:txBody>
                  <a:tcPr marL="91449" marR="91449" marT="45697" marB="456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10/13 </a:t>
                      </a:r>
                      <a:r>
                        <a:rPr lang="zh-TW" altLang="en-US" sz="1800" b="1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通知</a:t>
                      </a:r>
                      <a:r>
                        <a:rPr lang="zh-TW" altLang="en-US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人維</a:t>
                      </a:r>
                    </a:p>
                  </a:txBody>
                  <a:tcPr marL="91449" marR="91449" marT="45697" marB="4569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6" name="群組 15">
            <a:extLst>
              <a:ext uri="{FF2B5EF4-FFF2-40B4-BE49-F238E27FC236}">
                <a16:creationId xmlns:a16="http://schemas.microsoft.com/office/drawing/2014/main" id="{2173B704-9C62-07BF-331E-B9E3A225890B}"/>
              </a:ext>
            </a:extLst>
          </p:cNvPr>
          <p:cNvGrpSpPr/>
          <p:nvPr/>
        </p:nvGrpSpPr>
        <p:grpSpPr>
          <a:xfrm>
            <a:off x="32" y="2194216"/>
            <a:ext cx="12191968" cy="3025815"/>
            <a:chOff x="-128016" y="1468258"/>
            <a:chExt cx="12191968" cy="3025815"/>
          </a:xfrm>
        </p:grpSpPr>
        <p:pic>
          <p:nvPicPr>
            <p:cNvPr id="9" name="Picture 17411" descr="image.png">
              <a:extLst>
                <a:ext uri="{FF2B5EF4-FFF2-40B4-BE49-F238E27FC236}">
                  <a16:creationId xmlns:a16="http://schemas.microsoft.com/office/drawing/2014/main" id="{C39D6553-248C-9CFC-368A-9D2119D81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28016" y="1468258"/>
              <a:ext cx="4033509" cy="3025815"/>
            </a:xfrm>
            <a:prstGeom prst="rect">
              <a:avLst/>
            </a:prstGeom>
          </p:spPr>
        </p:pic>
        <p:pic>
          <p:nvPicPr>
            <p:cNvPr id="13" name="Picture 17412" descr="image.png">
              <a:extLst>
                <a:ext uri="{FF2B5EF4-FFF2-40B4-BE49-F238E27FC236}">
                  <a16:creationId xmlns:a16="http://schemas.microsoft.com/office/drawing/2014/main" id="{8F8A54B3-43C1-8F9D-8233-7B3F3AA68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51213" y="1468258"/>
              <a:ext cx="4033509" cy="3025815"/>
            </a:xfrm>
            <a:prstGeom prst="rect">
              <a:avLst/>
            </a:prstGeom>
          </p:spPr>
        </p:pic>
        <p:pic>
          <p:nvPicPr>
            <p:cNvPr id="15" name="Picture 17413" descr="image.png">
              <a:extLst>
                <a:ext uri="{FF2B5EF4-FFF2-40B4-BE49-F238E27FC236}">
                  <a16:creationId xmlns:a16="http://schemas.microsoft.com/office/drawing/2014/main" id="{BA07EF8C-4A50-E745-FB45-5E30A1A3E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30443" y="1468258"/>
              <a:ext cx="4033509" cy="30258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1533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3CF42-43A2-C017-9717-03652524B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6F788CB-B9D8-107F-658F-37ED3E03D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en-US" altLang="zh-TW" sz="2600" b="1">
                <a:solidFill>
                  <a:schemeClr val="bg2"/>
                </a:solidFill>
              </a:rPr>
              <a:t>ACP</a:t>
            </a:r>
            <a:r>
              <a:rPr lang="zh-TW" altLang="en-US" sz="2600" b="1">
                <a:solidFill>
                  <a:schemeClr val="bg2"/>
                </a:solidFill>
              </a:rPr>
              <a:t>箱體</a:t>
            </a:r>
            <a:endParaRPr lang="zh-TW" altLang="en-US" sz="2600" b="1" dirty="0">
              <a:solidFill>
                <a:schemeClr val="bg2"/>
              </a:solidFill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9532887-0E35-3BBB-9E08-1B7236821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613314"/>
              </p:ext>
            </p:extLst>
          </p:nvPr>
        </p:nvGraphicFramePr>
        <p:xfrm>
          <a:off x="6888445" y="3538548"/>
          <a:ext cx="5286121" cy="1462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4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15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未完成項目</a:t>
                      </a:r>
                    </a:p>
                  </a:txBody>
                  <a:tcPr marL="91449" marR="91449" marT="45697" marB="456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執行單位</a:t>
                      </a:r>
                    </a:p>
                  </a:txBody>
                  <a:tcPr marL="91449" marR="91449" marT="45697" marB="456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備註</a:t>
                      </a:r>
                    </a:p>
                  </a:txBody>
                  <a:tcPr marL="91449" marR="91449" marT="45697" marB="4569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r>
                        <a:rPr lang="en-US" altLang="zh-TW" sz="1800" b="1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ACP</a:t>
                      </a:r>
                      <a:r>
                        <a:rPr lang="zh-TW" altLang="en-US" sz="1800" b="1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～</a:t>
                      </a:r>
                      <a:r>
                        <a:rPr lang="en-US" altLang="zh-TW" sz="1800" b="1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SUN</a:t>
                      </a:r>
                      <a:r>
                        <a:rPr lang="zh-TW" altLang="en-US" sz="1800" b="1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電源</a:t>
                      </a:r>
                      <a:r>
                        <a:rPr lang="zh-TW" altLang="en-US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線</a:t>
                      </a:r>
                    </a:p>
                  </a:txBody>
                  <a:tcPr marL="91449" marR="91449" marT="45697" marB="456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夆典</a:t>
                      </a:r>
                    </a:p>
                  </a:txBody>
                  <a:tcPr marL="91449" marR="91449" marT="45697" marB="45697"/>
                </a:tc>
                <a:tc>
                  <a:txBody>
                    <a:bodyPr/>
                    <a:lstStyle/>
                    <a:p>
                      <a:r>
                        <a:rPr lang="en-US" altLang="zh-TW" sz="1800" b="1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10/13</a:t>
                      </a:r>
                      <a:r>
                        <a:rPr lang="zh-TW" altLang="en-US" sz="1800" b="1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通知</a:t>
                      </a:r>
                      <a:r>
                        <a:rPr lang="zh-TW" altLang="en-US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人維</a:t>
                      </a:r>
                    </a:p>
                  </a:txBody>
                  <a:tcPr marL="91449" marR="91449" marT="45697" marB="4569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r>
                        <a:rPr lang="en-US" altLang="zh-TW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CT</a:t>
                      </a:r>
                      <a:endParaRPr lang="zh-TW" altLang="en-US" sz="18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1449" marR="91449" marT="45697" marB="4569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採購</a:t>
                      </a:r>
                    </a:p>
                  </a:txBody>
                  <a:tcPr marL="91449" marR="91449" marT="45697" marB="456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9/30</a:t>
                      </a:r>
                      <a:r>
                        <a:rPr lang="zh-TW" altLang="en-US" sz="1800" b="1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說等 </a:t>
                      </a:r>
                      <a:r>
                        <a:rPr lang="en-US" altLang="zh-TW" sz="1800" b="1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</a:t>
                      </a:r>
                      <a:r>
                        <a:rPr lang="zh-TW" altLang="en-US" sz="1800" b="1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個</a:t>
                      </a:r>
                      <a:r>
                        <a:rPr lang="zh-TW" altLang="en-US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月</a:t>
                      </a:r>
                    </a:p>
                  </a:txBody>
                  <a:tcPr marL="91449" marR="91449" marT="45697" marB="4569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r>
                        <a:rPr lang="zh-TW" altLang="en-US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台電掛表</a:t>
                      </a:r>
                    </a:p>
                  </a:txBody>
                  <a:tcPr marL="91449" marR="91449" marT="45697" marB="456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台電</a:t>
                      </a:r>
                    </a:p>
                  </a:txBody>
                  <a:tcPr marL="91449" marR="91449" marT="45697" marB="456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？</a:t>
                      </a:r>
                    </a:p>
                  </a:txBody>
                  <a:tcPr marL="91449" marR="91449" marT="45697" marB="4569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4" name="群組 13">
            <a:extLst>
              <a:ext uri="{FF2B5EF4-FFF2-40B4-BE49-F238E27FC236}">
                <a16:creationId xmlns:a16="http://schemas.microsoft.com/office/drawing/2014/main" id="{2E5AE1D9-5E30-40E3-E199-3C2B13586A9E}"/>
              </a:ext>
            </a:extLst>
          </p:cNvPr>
          <p:cNvGrpSpPr/>
          <p:nvPr/>
        </p:nvGrpSpPr>
        <p:grpSpPr>
          <a:xfrm>
            <a:off x="18288" y="2559976"/>
            <a:ext cx="6840000" cy="3420000"/>
            <a:chOff x="910900" y="1828800"/>
            <a:chExt cx="10370168" cy="4956048"/>
          </a:xfrm>
        </p:grpSpPr>
        <p:pic>
          <p:nvPicPr>
            <p:cNvPr id="11" name="Picture 19459" descr="image.png">
              <a:extLst>
                <a:ext uri="{FF2B5EF4-FFF2-40B4-BE49-F238E27FC236}">
                  <a16:creationId xmlns:a16="http://schemas.microsoft.com/office/drawing/2014/main" id="{8347CBDA-7585-DBFC-7182-A79B0DFCA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0900" y="1828800"/>
              <a:ext cx="3717874" cy="4956048"/>
            </a:xfrm>
            <a:prstGeom prst="rect">
              <a:avLst/>
            </a:prstGeom>
          </p:spPr>
        </p:pic>
        <p:pic>
          <p:nvPicPr>
            <p:cNvPr id="13" name="Picture 19460" descr="image.png">
              <a:extLst>
                <a:ext uri="{FF2B5EF4-FFF2-40B4-BE49-F238E27FC236}">
                  <a16:creationId xmlns:a16="http://schemas.microsoft.com/office/drawing/2014/main" id="{C7A24EB6-71E1-6D03-E67A-4981D43F49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4495" y="1828800"/>
              <a:ext cx="6606573" cy="4956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60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E33BC-8CBF-2F42-5C95-9D1ECD6D6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FEB38B6F-40C2-FF02-9F8F-C47E5E7F7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>
                <a:solidFill>
                  <a:schemeClr val="bg2"/>
                </a:solidFill>
              </a:rPr>
              <a:t>未完成項目</a:t>
            </a:r>
            <a:endParaRPr lang="zh-TW" altLang="en-US" sz="2600" b="1" dirty="0">
              <a:solidFill>
                <a:schemeClr val="bg2"/>
              </a:solidFill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C48FA2E-3AC6-4585-A824-C328FC89B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210803"/>
              </p:ext>
            </p:extLst>
          </p:nvPr>
        </p:nvGraphicFramePr>
        <p:xfrm>
          <a:off x="1122753" y="2285656"/>
          <a:ext cx="9946494" cy="4039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3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2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1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82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未完成項目</a:t>
                      </a:r>
                    </a:p>
                  </a:txBody>
                  <a:tcPr marL="91442" marR="91442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執行單位</a:t>
                      </a:r>
                    </a:p>
                  </a:txBody>
                  <a:tcPr marL="91442" marR="91442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備註</a:t>
                      </a:r>
                    </a:p>
                  </a:txBody>
                  <a:tcPr marL="91442" marR="91442" marT="45714" marB="4571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828">
                <a:tc>
                  <a:txBody>
                    <a:bodyPr/>
                    <a:lstStyle/>
                    <a:p>
                      <a:r>
                        <a:rPr lang="en-US" altLang="zh-TW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ACP</a:t>
                      </a:r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～</a:t>
                      </a:r>
                      <a:r>
                        <a:rPr lang="en-US" altLang="zh-TW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SUN</a:t>
                      </a:r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電源</a:t>
                      </a:r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線</a:t>
                      </a:r>
                    </a:p>
                  </a:txBody>
                  <a:tcPr marL="91442" marR="91442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chemeClr val="accent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夆典</a:t>
                      </a:r>
                    </a:p>
                  </a:txBody>
                  <a:tcPr marL="91442" marR="91442" marT="45714" marB="45714"/>
                </a:tc>
                <a:tc>
                  <a:txBody>
                    <a:bodyPr/>
                    <a:lstStyle/>
                    <a:p>
                      <a:r>
                        <a:rPr lang="en-US" altLang="zh-TW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10/13 </a:t>
                      </a:r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通知</a:t>
                      </a:r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人維</a:t>
                      </a:r>
                    </a:p>
                  </a:txBody>
                  <a:tcPr marL="91442" marR="91442"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828">
                <a:tc>
                  <a:txBody>
                    <a:bodyPr/>
                    <a:lstStyle/>
                    <a:p>
                      <a:r>
                        <a:rPr lang="en-US" altLang="zh-TW" sz="1800" b="1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CT</a:t>
                      </a:r>
                      <a:endParaRPr lang="zh-TW" altLang="en-US" sz="1800" b="1" dirty="0">
                        <a:solidFill>
                          <a:schemeClr val="tx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1442" marR="91442" marT="45714" marB="4571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solidFill>
                            <a:schemeClr val="accent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採購</a:t>
                      </a:r>
                    </a:p>
                  </a:txBody>
                  <a:tcPr marL="91442" marR="91442"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9/30 </a:t>
                      </a:r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說等 </a:t>
                      </a:r>
                      <a:r>
                        <a:rPr lang="en-US" altLang="zh-TW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 </a:t>
                      </a:r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個</a:t>
                      </a:r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月</a:t>
                      </a:r>
                    </a:p>
                  </a:txBody>
                  <a:tcPr marL="91442" marR="91442"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828">
                <a:tc>
                  <a:txBody>
                    <a:bodyPr/>
                    <a:lstStyle/>
                    <a:p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台電掛表</a:t>
                      </a:r>
                    </a:p>
                  </a:txBody>
                  <a:tcPr marL="91442" marR="91442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chemeClr val="accent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台電</a:t>
                      </a:r>
                    </a:p>
                  </a:txBody>
                  <a:tcPr marL="91442" marR="91442" marT="45714" marB="45714"/>
                </a:tc>
                <a:tc>
                  <a:txBody>
                    <a:bodyPr/>
                    <a:lstStyle/>
                    <a:p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等業務通知</a:t>
                      </a:r>
                    </a:p>
                  </a:txBody>
                  <a:tcPr marL="91442" marR="91442"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8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zh-TW" altLang="zh-TW" sz="1800" b="1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變流器壓克力</a:t>
                      </a:r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牌</a:t>
                      </a:r>
                      <a:endParaRPr lang="en-US" altLang="zh-TW" sz="1800" b="1" dirty="0">
                        <a:solidFill>
                          <a:schemeClr val="tx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1442" marR="91442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chemeClr val="accent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辛晴</a:t>
                      </a:r>
                    </a:p>
                  </a:txBody>
                  <a:tcPr marL="91442" marR="91442"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9/14 </a:t>
                      </a:r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通知曾老闆 </a:t>
                      </a:r>
                      <a:r>
                        <a:rPr lang="en-US" altLang="zh-TW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10/13 </a:t>
                      </a:r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工</a:t>
                      </a:r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班阿龍</a:t>
                      </a:r>
                    </a:p>
                  </a:txBody>
                  <a:tcPr marL="91442" marR="91442"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828">
                <a:tc>
                  <a:txBody>
                    <a:bodyPr/>
                    <a:lstStyle/>
                    <a:p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接地測試箱</a:t>
                      </a:r>
                    </a:p>
                  </a:txBody>
                  <a:tcPr marL="91442" marR="91442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800" b="1" dirty="0">
                          <a:solidFill>
                            <a:schemeClr val="accent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夆典</a:t>
                      </a:r>
                      <a:endParaRPr lang="zh-TW" altLang="en-US" sz="1800" b="1" dirty="0">
                        <a:solidFill>
                          <a:schemeClr val="accent2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1442" marR="91442"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10/13 </a:t>
                      </a:r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通知</a:t>
                      </a:r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人維</a:t>
                      </a:r>
                    </a:p>
                  </a:txBody>
                  <a:tcPr marL="91442" marR="91442"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828">
                <a:tc>
                  <a:txBody>
                    <a:bodyPr/>
                    <a:lstStyle/>
                    <a:p>
                      <a:r>
                        <a:rPr lang="zh-TW" altLang="zh-TW" sz="1800" b="1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無收縮水泥證明單</a:t>
                      </a:r>
                      <a:endParaRPr lang="zh-TW" altLang="en-US" sz="1800" b="1" dirty="0">
                        <a:solidFill>
                          <a:schemeClr val="tx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1442" marR="91442" marT="45714" marB="4571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dirty="0">
                          <a:solidFill>
                            <a:schemeClr val="accent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辛晴</a:t>
                      </a:r>
                      <a:endParaRPr lang="en-US" altLang="zh-TW" sz="1800" b="1" dirty="0">
                        <a:solidFill>
                          <a:schemeClr val="accent2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1442" marR="91442" marT="45714" marB="45714"/>
                </a:tc>
                <a:tc>
                  <a:txBody>
                    <a:bodyPr/>
                    <a:lstStyle/>
                    <a:p>
                      <a:r>
                        <a:rPr lang="en-US" altLang="zh-TW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9/29 </a:t>
                      </a:r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通知</a:t>
                      </a:r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曾老闆</a:t>
                      </a:r>
                    </a:p>
                  </a:txBody>
                  <a:tcPr marL="91442" marR="91442"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828">
                <a:tc>
                  <a:txBody>
                    <a:bodyPr/>
                    <a:lstStyle/>
                    <a:p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監控螢幕安裝</a:t>
                      </a:r>
                    </a:p>
                  </a:txBody>
                  <a:tcPr marL="91442" marR="91442" marT="45714" marB="4571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dirty="0">
                          <a:solidFill>
                            <a:schemeClr val="accent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辛晴</a:t>
                      </a:r>
                      <a:endParaRPr lang="en-US" altLang="zh-TW" sz="1800" b="1" dirty="0">
                        <a:solidFill>
                          <a:schemeClr val="accent2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1442" marR="91442" marT="45714" marB="45714"/>
                </a:tc>
                <a:tc>
                  <a:txBody>
                    <a:bodyPr/>
                    <a:lstStyle/>
                    <a:p>
                      <a:r>
                        <a:rPr lang="en-US" altLang="zh-TW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10/14 </a:t>
                      </a:r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人維</a:t>
                      </a:r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：</a:t>
                      </a:r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大樓台電 </a:t>
                      </a:r>
                      <a:r>
                        <a:rPr lang="en-US" altLang="zh-TW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AC</a:t>
                      </a:r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電</a:t>
                      </a:r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供電再裝</a:t>
                      </a:r>
                    </a:p>
                  </a:txBody>
                  <a:tcPr marL="91442" marR="91442" marT="45714" marB="4571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828">
                <a:tc>
                  <a:txBody>
                    <a:bodyPr/>
                    <a:lstStyle/>
                    <a:p>
                      <a:r>
                        <a:rPr lang="zh-TW" altLang="zh-TW" sz="1800" b="1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模組獨立接地</a:t>
                      </a:r>
                      <a:endParaRPr lang="zh-TW" altLang="en-US" sz="1800" b="1" dirty="0">
                        <a:solidFill>
                          <a:schemeClr val="tx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1442" marR="91442" marT="45714" marB="4571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dirty="0">
                          <a:solidFill>
                            <a:schemeClr val="accent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辛晴</a:t>
                      </a:r>
                      <a:endParaRPr lang="en-US" altLang="zh-TW" sz="1800" b="1" dirty="0">
                        <a:solidFill>
                          <a:schemeClr val="accent2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1442" marR="91442" marT="45714" marB="45714"/>
                </a:tc>
                <a:tc>
                  <a:txBody>
                    <a:bodyPr/>
                    <a:lstStyle/>
                    <a:p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等接地測試箱完成</a:t>
                      </a:r>
                    </a:p>
                  </a:txBody>
                  <a:tcPr marL="91442" marR="91442" marT="45714" marB="4571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5828">
                <a:tc>
                  <a:txBody>
                    <a:bodyPr/>
                    <a:lstStyle/>
                    <a:p>
                      <a:r>
                        <a:rPr lang="zh-TW" altLang="zh-TW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SUN</a:t>
                      </a:r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～</a:t>
                      </a:r>
                      <a:r>
                        <a:rPr lang="zh-TW" altLang="zh-TW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監控相</a:t>
                      </a:r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zh-TW" altLang="zh-TW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220</a:t>
                      </a:r>
                      <a:r>
                        <a:rPr lang="zh-TW" altLang="zh-TW" sz="1800" b="1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V</a:t>
                      </a:r>
                      <a:endParaRPr lang="zh-TW" altLang="en-US" sz="1800" b="1" dirty="0">
                        <a:solidFill>
                          <a:schemeClr val="tx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1442" marR="91442" marT="45714" marB="4571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dirty="0">
                          <a:solidFill>
                            <a:schemeClr val="accent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夆典</a:t>
                      </a:r>
                      <a:endParaRPr lang="zh-TW" altLang="en-US" sz="1800" b="1" dirty="0">
                        <a:solidFill>
                          <a:schemeClr val="accent2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1442" marR="91442"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10/13</a:t>
                      </a:r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通知</a:t>
                      </a:r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人維</a:t>
                      </a:r>
                    </a:p>
                  </a:txBody>
                  <a:tcPr marL="91442" marR="91442" marT="45714" marB="4571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2035">
                <a:tc>
                  <a:txBody>
                    <a:bodyPr/>
                    <a:lstStyle/>
                    <a:p>
                      <a:r>
                        <a:rPr lang="zh-TW" altLang="zh-TW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鋼構</a:t>
                      </a:r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－</a:t>
                      </a:r>
                      <a:r>
                        <a:rPr lang="zh-TW" altLang="zh-TW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鏽</a:t>
                      </a:r>
                      <a:r>
                        <a:rPr lang="zh-TW" altLang="zh-TW" sz="1800" b="1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點補高鋅漆、鎖固、定磅、畫線標</a:t>
                      </a:r>
                      <a:endParaRPr lang="zh-TW" altLang="en-US" sz="1800" b="1" dirty="0">
                        <a:solidFill>
                          <a:schemeClr val="tx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1442" marR="91442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chemeClr val="accent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辛晴</a:t>
                      </a:r>
                    </a:p>
                  </a:txBody>
                  <a:tcPr marL="91442" marR="91442" marT="45714" marB="45714"/>
                </a:tc>
                <a:tc>
                  <a:txBody>
                    <a:bodyPr/>
                    <a:lstStyle/>
                    <a:p>
                      <a:r>
                        <a:rPr lang="en-US" altLang="zh-TW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8/21</a:t>
                      </a:r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通知</a:t>
                      </a:r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曾老闆</a:t>
                      </a:r>
                    </a:p>
                  </a:txBody>
                  <a:tcPr marL="91442" marR="91442" marT="45714" marB="4571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4149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9D10B-915E-19EE-E930-DA15BB96C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EAACB028-F1B5-DDC2-C82E-3A33120DD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9" y="2221076"/>
            <a:ext cx="9688504" cy="4449872"/>
          </a:xfrm>
        </p:spPr>
        <p:txBody>
          <a:bodyPr>
            <a:noAutofit/>
          </a:bodyPr>
          <a:lstStyle/>
          <a:p>
            <a:r>
              <a:rPr lang="zh-TW" altLang="en-US" sz="2000" b="1"/>
              <a:t>工程事項：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綠憑審查</a:t>
            </a:r>
            <a:endParaRPr lang="en-US" altLang="zh-TW" sz="2000" b="1"/>
          </a:p>
          <a:p>
            <a:pPr marL="0" indent="0">
              <a:spcBef>
                <a:spcPts val="500"/>
              </a:spcBef>
              <a:buNone/>
            </a:pPr>
            <a:endParaRPr lang="zh-TW" altLang="en-US" sz="2000" b="1"/>
          </a:p>
          <a:p>
            <a:r>
              <a:rPr lang="zh-TW" altLang="en-US" sz="2000" b="1"/>
              <a:t>追蹤事項：</a:t>
            </a:r>
            <a:endParaRPr lang="en-US" altLang="zh-TW" sz="2000" b="1"/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提報、施工工法及工序建議，內部審核中</a:t>
            </a:r>
            <a:r>
              <a:rPr lang="zh-TW" altLang="en-US" sz="2000" b="1">
                <a:solidFill>
                  <a:schemeClr val="accent2"/>
                </a:solidFill>
              </a:rPr>
              <a:t>（第</a:t>
            </a:r>
            <a:r>
              <a:rPr lang="en-US" altLang="zh-TW" sz="2000" b="1">
                <a:solidFill>
                  <a:schemeClr val="accent2"/>
                </a:solidFill>
              </a:rPr>
              <a:t>50</a:t>
            </a:r>
            <a:r>
              <a:rPr lang="zh-TW" altLang="en-US" sz="2000" b="1">
                <a:solidFill>
                  <a:schemeClr val="accent2"/>
                </a:solidFill>
              </a:rPr>
              <a:t>天）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/>
              <a:t>8/25 </a:t>
            </a:r>
            <a:r>
              <a:rPr lang="zh-TW" altLang="en-US" sz="2000" b="1"/>
              <a:t>漏水</a:t>
            </a:r>
            <a:endParaRPr lang="en-US" altLang="zh-TW" sz="2000" b="1"/>
          </a:p>
          <a:p>
            <a:pPr marL="457200" indent="-457200">
              <a:buFont typeface="+mj-lt"/>
              <a:buAutoNum type="arabicPeriod"/>
            </a:pPr>
            <a:endParaRPr lang="zh-TW" altLang="en-US" sz="2000" b="1">
              <a:solidFill>
                <a:schemeClr val="accent2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zh-TW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8CCB153B-A8E7-DA53-F2F7-CC7C49F9A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台以八翁－宏明</a:t>
            </a:r>
          </a:p>
        </p:txBody>
      </p:sp>
    </p:spTree>
    <p:extLst>
      <p:ext uri="{BB962C8B-B14F-4D97-AF65-F5344CB8AC3E}">
        <p14:creationId xmlns:p14="http://schemas.microsoft.com/office/powerpoint/2010/main" val="273387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2DA21-1BB4-3DE1-62DA-54C628906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6B5E5F11-0A7D-1B18-F694-C9B8D32A3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>
                <a:solidFill>
                  <a:schemeClr val="bg2"/>
                </a:solidFill>
              </a:rPr>
              <a:t>綠憑審查</a:t>
            </a:r>
            <a:endParaRPr lang="zh-TW" altLang="en-US" sz="2600" b="1" dirty="0">
              <a:solidFill>
                <a:schemeClr val="bg2"/>
              </a:solidFill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143841CE-4F58-46BC-31EB-F0B7638405CA}"/>
              </a:ext>
            </a:extLst>
          </p:cNvPr>
          <p:cNvGrpSpPr/>
          <p:nvPr/>
        </p:nvGrpSpPr>
        <p:grpSpPr>
          <a:xfrm>
            <a:off x="32" y="3603585"/>
            <a:ext cx="12191968" cy="3025815"/>
            <a:chOff x="0" y="2812204"/>
            <a:chExt cx="12191968" cy="3025815"/>
          </a:xfrm>
        </p:grpSpPr>
        <p:pic>
          <p:nvPicPr>
            <p:cNvPr id="5" name="Picture 23556" descr="image.jpeg">
              <a:extLst>
                <a:ext uri="{FF2B5EF4-FFF2-40B4-BE49-F238E27FC236}">
                  <a16:creationId xmlns:a16="http://schemas.microsoft.com/office/drawing/2014/main" id="{F59CBDA7-4849-0CE1-87FE-1FC53F6D3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812204"/>
              <a:ext cx="4033509" cy="3025815"/>
            </a:xfrm>
            <a:prstGeom prst="rect">
              <a:avLst/>
            </a:prstGeom>
          </p:spPr>
        </p:pic>
        <p:pic>
          <p:nvPicPr>
            <p:cNvPr id="8" name="Picture 23557" descr="image.jpeg">
              <a:extLst>
                <a:ext uri="{FF2B5EF4-FFF2-40B4-BE49-F238E27FC236}">
                  <a16:creationId xmlns:a16="http://schemas.microsoft.com/office/drawing/2014/main" id="{03713704-D139-C6AF-01A3-ED99D569D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79229" y="2812204"/>
              <a:ext cx="4033509" cy="3025815"/>
            </a:xfrm>
            <a:prstGeom prst="rect">
              <a:avLst/>
            </a:prstGeom>
          </p:spPr>
        </p:pic>
        <p:pic>
          <p:nvPicPr>
            <p:cNvPr id="10" name="Picture 23558" descr="image.jpeg">
              <a:extLst>
                <a:ext uri="{FF2B5EF4-FFF2-40B4-BE49-F238E27FC236}">
                  <a16:creationId xmlns:a16="http://schemas.microsoft.com/office/drawing/2014/main" id="{8705CD5F-6BD8-BBE7-4BB2-C07AC4088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58459" y="2812204"/>
              <a:ext cx="4033509" cy="3025815"/>
            </a:xfrm>
            <a:prstGeom prst="rect">
              <a:avLst/>
            </a:prstGeom>
          </p:spPr>
        </p:pic>
      </p:grp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4F0B9697-9EAB-7BAE-78EC-C1FC3E2FB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9" y="2083916"/>
            <a:ext cx="9688504" cy="4449872"/>
          </a:xfrm>
        </p:spPr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US" altLang="zh-TW" sz="1800" b="1"/>
              <a:t>2026/10/15</a:t>
            </a:r>
            <a:r>
              <a:rPr lang="zh-TW" altLang="en-US" sz="1800" b="1"/>
              <a:t> 綠憑審查</a:t>
            </a:r>
          </a:p>
          <a:p>
            <a:pPr marL="342900" indent="-342900">
              <a:spcBef>
                <a:spcPts val="500"/>
              </a:spcBef>
              <a:buFont typeface="+mj-lt"/>
              <a:buAutoNum type="arabicPeriod"/>
            </a:pPr>
            <a:r>
              <a:rPr lang="zh-TW" altLang="en-US" sz="1800" b="1"/>
              <a:t>電錶 </a:t>
            </a:r>
            <a:r>
              <a:rPr lang="en-US" altLang="zh-TW" sz="1800" b="1">
                <a:solidFill>
                  <a:schemeClr val="accent2"/>
                </a:solidFill>
              </a:rPr>
              <a:t>30 </a:t>
            </a:r>
            <a:r>
              <a:rPr lang="zh-TW" altLang="en-US" sz="1800" b="1">
                <a:solidFill>
                  <a:schemeClr val="accent2"/>
                </a:solidFill>
              </a:rPr>
              <a:t>倍</a:t>
            </a:r>
            <a:r>
              <a:rPr lang="zh-TW" altLang="en-US" sz="1800" b="1"/>
              <a:t>審查單寫 </a:t>
            </a:r>
            <a:r>
              <a:rPr lang="en-US" altLang="zh-TW" sz="1800" b="1">
                <a:solidFill>
                  <a:schemeClr val="accent2"/>
                </a:solidFill>
              </a:rPr>
              <a:t>1 </a:t>
            </a:r>
            <a:r>
              <a:rPr lang="zh-TW" altLang="en-US" sz="1800" b="1">
                <a:solidFill>
                  <a:schemeClr val="accent2"/>
                </a:solidFill>
              </a:rPr>
              <a:t>倍</a:t>
            </a:r>
          </a:p>
          <a:p>
            <a:pPr marL="342900" indent="-342900">
              <a:spcBef>
                <a:spcPts val="500"/>
              </a:spcBef>
              <a:buFont typeface="+mj-lt"/>
              <a:buAutoNum type="arabicPeriod"/>
            </a:pPr>
            <a:r>
              <a:rPr lang="zh-TW" altLang="en-US" sz="1800" b="1"/>
              <a:t>審查費是誰要出</a:t>
            </a:r>
          </a:p>
          <a:p>
            <a:pPr marL="342900" indent="-342900">
              <a:spcBef>
                <a:spcPts val="500"/>
              </a:spcBef>
              <a:buFont typeface="+mj-lt"/>
              <a:buAutoNum type="arabicPeriod"/>
            </a:pPr>
            <a:r>
              <a:rPr lang="zh-TW" altLang="en-US" sz="1800" b="1"/>
              <a:t>每月電錶數據需提供照片</a:t>
            </a:r>
          </a:p>
        </p:txBody>
      </p:sp>
    </p:spTree>
    <p:extLst>
      <p:ext uri="{BB962C8B-B14F-4D97-AF65-F5344CB8AC3E}">
        <p14:creationId xmlns:p14="http://schemas.microsoft.com/office/powerpoint/2010/main" val="2779773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FD618-90BE-B7D6-819E-1611B8750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C037763-66CE-C081-DE62-6AD6BC9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法蘭摩沙－鎮寶、名湶、俊雄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BDEFFEB7-0315-B08B-2CDB-92C6935D2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8" y="2221076"/>
            <a:ext cx="9926247" cy="44498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000" b="1">
                <a:solidFill>
                  <a:schemeClr val="accent2"/>
                </a:solidFill>
              </a:rPr>
              <a:t>Tube</a:t>
            </a:r>
            <a:r>
              <a:rPr lang="zh-TW" altLang="en-US" sz="2000" b="1">
                <a:solidFill>
                  <a:schemeClr val="accent2"/>
                </a:solidFill>
              </a:rPr>
              <a:t> 管安裝：</a:t>
            </a:r>
            <a:r>
              <a:rPr lang="en-US" altLang="zh-TW" sz="2000" b="1">
                <a:solidFill>
                  <a:schemeClr val="accent2"/>
                </a:solidFill>
              </a:rPr>
              <a:t>35%</a:t>
            </a:r>
          </a:p>
          <a:p>
            <a:pPr marL="0" indent="0">
              <a:buNone/>
            </a:pPr>
            <a:r>
              <a:rPr lang="zh-TW" altLang="en-US" sz="2000" b="1">
                <a:solidFill>
                  <a:schemeClr val="accent2"/>
                </a:solidFill>
              </a:rPr>
              <a:t>儀表安裝：</a:t>
            </a:r>
            <a:r>
              <a:rPr lang="en-US" altLang="zh-TW" sz="2000" b="1">
                <a:solidFill>
                  <a:schemeClr val="accent2"/>
                </a:solidFill>
              </a:rPr>
              <a:t>100%</a:t>
            </a:r>
          </a:p>
          <a:p>
            <a:pPr marL="0" indent="0">
              <a:buNone/>
            </a:pPr>
            <a:r>
              <a:rPr lang="zh-TW" altLang="en-US" sz="2000" b="1">
                <a:solidFill>
                  <a:schemeClr val="accent2"/>
                </a:solidFill>
              </a:rPr>
              <a:t>儀表結線：</a:t>
            </a:r>
            <a:r>
              <a:rPr lang="en-US" altLang="zh-TW" sz="2000" b="1">
                <a:solidFill>
                  <a:schemeClr val="accent2"/>
                </a:solidFill>
              </a:rPr>
              <a:t>92%</a:t>
            </a:r>
            <a:endParaRPr lang="en-US" altLang="zh-TW" sz="2000" b="1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zh-TW" altLang="en-US" sz="2000" b="1">
                <a:solidFill>
                  <a:schemeClr val="tx2"/>
                </a:solidFill>
              </a:rPr>
              <a:t>總進度：</a:t>
            </a:r>
            <a:r>
              <a:rPr lang="en-US" altLang="zh-TW" sz="2000" b="1">
                <a:solidFill>
                  <a:schemeClr val="tx2"/>
                </a:solidFill>
              </a:rPr>
              <a:t>89.9%</a:t>
            </a:r>
          </a:p>
          <a:p>
            <a:pPr marL="0" indent="0">
              <a:spcBef>
                <a:spcPts val="500"/>
              </a:spcBef>
              <a:buNone/>
            </a:pPr>
            <a:endParaRPr lang="en-US" altLang="zh-TW" sz="2000" b="1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zh-TW" altLang="en-US" sz="2000" b="1">
                <a:solidFill>
                  <a:schemeClr val="tx2"/>
                </a:solidFill>
              </a:rPr>
              <a:t>案場協調項目：</a:t>
            </a:r>
            <a:endParaRPr lang="en-US" altLang="zh-TW" sz="2000" b="1">
              <a:solidFill>
                <a:schemeClr val="tx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>
                <a:solidFill>
                  <a:schemeClr val="tx2"/>
                </a:solidFill>
              </a:rPr>
              <a:t>亞通管路組修改餘 </a:t>
            </a:r>
            <a:r>
              <a:rPr lang="en-US" altLang="zh-TW" sz="2000" b="1">
                <a:solidFill>
                  <a:schemeClr val="tx2"/>
                </a:solidFill>
              </a:rPr>
              <a:t>1 </a:t>
            </a:r>
            <a:r>
              <a:rPr lang="zh-TW" altLang="en-US" sz="2000" b="1">
                <a:solidFill>
                  <a:schemeClr val="tx2"/>
                </a:solidFill>
              </a:rPr>
              <a:t>處（無法蘭）</a:t>
            </a:r>
            <a:endParaRPr lang="en-US" altLang="zh-TW" sz="2000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549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4E1A27CA-4BAE-5BF5-65AB-EBA8BC0C1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 dirty="0">
                <a:solidFill>
                  <a:schemeClr val="bg2"/>
                </a:solidFill>
              </a:rPr>
              <a:t>施工進度表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A9DFA30-E630-C700-2ED5-D6E3093D451F}"/>
              </a:ext>
            </a:extLst>
          </p:cNvPr>
          <p:cNvGrpSpPr/>
          <p:nvPr/>
        </p:nvGrpSpPr>
        <p:grpSpPr>
          <a:xfrm>
            <a:off x="1588800" y="1828456"/>
            <a:ext cx="9014400" cy="5040000"/>
            <a:chOff x="0" y="3364112"/>
            <a:chExt cx="6254497" cy="3493888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89738371-3826-D6B1-7D2C-5483E396C1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364112"/>
              <a:ext cx="6254497" cy="2828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97A40CF6-DEB4-C542-7FCF-B7FA56C1DF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8551" y="6200378"/>
              <a:ext cx="3885946" cy="657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圖片 2">
              <a:extLst>
                <a:ext uri="{FF2B5EF4-FFF2-40B4-BE49-F238E27FC236}">
                  <a16:creationId xmlns:a16="http://schemas.microsoft.com/office/drawing/2014/main" id="{021637FA-1CB5-C568-09E8-F590750039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194425"/>
              <a:ext cx="2368550" cy="663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1C170-F040-CA04-6085-247771478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4B659C5A-D824-B94A-97C7-E2FE0D796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>
                <a:solidFill>
                  <a:schemeClr val="bg2"/>
                </a:solidFill>
              </a:rPr>
              <a:t>儀表安裝、配管工程</a:t>
            </a:r>
            <a:endParaRPr lang="zh-TW" altLang="en-US" sz="2600" b="1" dirty="0">
              <a:solidFill>
                <a:schemeClr val="bg2"/>
              </a:solidFill>
            </a:endParaRPr>
          </a:p>
        </p:txBody>
      </p:sp>
      <p:pic>
        <p:nvPicPr>
          <p:cNvPr id="4" name="Picture 20484" descr="image.jpeg">
            <a:extLst>
              <a:ext uri="{FF2B5EF4-FFF2-40B4-BE49-F238E27FC236}">
                <a16:creationId xmlns:a16="http://schemas.microsoft.com/office/drawing/2014/main" id="{47719A65-A201-62BB-68EA-42825F1DC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488" y="1828800"/>
            <a:ext cx="3278517" cy="2459442"/>
          </a:xfrm>
          <a:prstGeom prst="rect">
            <a:avLst/>
          </a:prstGeom>
        </p:spPr>
      </p:pic>
      <p:pic>
        <p:nvPicPr>
          <p:cNvPr id="8" name="Picture 20485" descr="image.jpeg">
            <a:extLst>
              <a:ext uri="{FF2B5EF4-FFF2-40B4-BE49-F238E27FC236}">
                <a16:creationId xmlns:a16="http://schemas.microsoft.com/office/drawing/2014/main" id="{8EFEFE15-04F3-84FF-AE9A-32006B80C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726" y="1828800"/>
            <a:ext cx="3278517" cy="2459442"/>
          </a:xfrm>
          <a:prstGeom prst="rect">
            <a:avLst/>
          </a:prstGeom>
        </p:spPr>
      </p:pic>
      <p:pic>
        <p:nvPicPr>
          <p:cNvPr id="12" name="Picture 20486" descr="image.jpeg">
            <a:extLst>
              <a:ext uri="{FF2B5EF4-FFF2-40B4-BE49-F238E27FC236}">
                <a16:creationId xmlns:a16="http://schemas.microsoft.com/office/drawing/2014/main" id="{55E4DAE8-F27B-A0E5-796F-2AF307800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0963" y="1828800"/>
            <a:ext cx="3278517" cy="2459442"/>
          </a:xfrm>
          <a:prstGeom prst="rect">
            <a:avLst/>
          </a:prstGeom>
        </p:spPr>
      </p:pic>
      <p:pic>
        <p:nvPicPr>
          <p:cNvPr id="15" name="Picture 20487" descr="image.jpeg">
            <a:extLst>
              <a:ext uri="{FF2B5EF4-FFF2-40B4-BE49-F238E27FC236}">
                <a16:creationId xmlns:a16="http://schemas.microsoft.com/office/drawing/2014/main" id="{15574454-6662-D626-718F-B67A8348E4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488" y="4333962"/>
            <a:ext cx="3278517" cy="2459442"/>
          </a:xfrm>
          <a:prstGeom prst="rect">
            <a:avLst/>
          </a:prstGeom>
        </p:spPr>
      </p:pic>
      <p:pic>
        <p:nvPicPr>
          <p:cNvPr id="17" name="Picture 20488" descr="image.jpeg">
            <a:extLst>
              <a:ext uri="{FF2B5EF4-FFF2-40B4-BE49-F238E27FC236}">
                <a16:creationId xmlns:a16="http://schemas.microsoft.com/office/drawing/2014/main" id="{AAB9472E-DD0A-D4E1-CBA3-285FEB2B9A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6726" y="4333962"/>
            <a:ext cx="3278517" cy="2459442"/>
          </a:xfrm>
          <a:prstGeom prst="rect">
            <a:avLst/>
          </a:prstGeom>
        </p:spPr>
      </p:pic>
      <p:pic>
        <p:nvPicPr>
          <p:cNvPr id="19" name="Picture 20489" descr="image.jpeg">
            <a:extLst>
              <a:ext uri="{FF2B5EF4-FFF2-40B4-BE49-F238E27FC236}">
                <a16:creationId xmlns:a16="http://schemas.microsoft.com/office/drawing/2014/main" id="{5662A2AC-ADCB-4C17-D91A-E9418E1A10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0963" y="4333962"/>
            <a:ext cx="3278517" cy="245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982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18845-08AE-9EDB-D5BE-E9D7C086F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2A71F04D-82A5-9B3E-C30B-A47387AE3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>
                <a:solidFill>
                  <a:schemeClr val="bg2"/>
                </a:solidFill>
              </a:rPr>
              <a:t>儀表安裝、配管工程</a:t>
            </a:r>
            <a:endParaRPr lang="zh-TW" altLang="en-US" sz="2600" b="1" dirty="0">
              <a:solidFill>
                <a:schemeClr val="bg2"/>
              </a:solidFill>
            </a:endParaRPr>
          </a:p>
        </p:txBody>
      </p:sp>
      <p:pic>
        <p:nvPicPr>
          <p:cNvPr id="4" name="Picture 22532" descr="image.jpeg">
            <a:extLst>
              <a:ext uri="{FF2B5EF4-FFF2-40B4-BE49-F238E27FC236}">
                <a16:creationId xmlns:a16="http://schemas.microsoft.com/office/drawing/2014/main" id="{AA621078-48BD-93B3-AD60-F57FA7DD8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5" y="1828800"/>
            <a:ext cx="3278639" cy="2459534"/>
          </a:xfrm>
          <a:prstGeom prst="rect">
            <a:avLst/>
          </a:prstGeom>
        </p:spPr>
      </p:pic>
      <p:pic>
        <p:nvPicPr>
          <p:cNvPr id="9" name="Picture 22533" descr="image.jpeg">
            <a:extLst>
              <a:ext uri="{FF2B5EF4-FFF2-40B4-BE49-F238E27FC236}">
                <a16:creationId xmlns:a16="http://schemas.microsoft.com/office/drawing/2014/main" id="{F0E7791B-E0FF-0C31-E4A2-1CC1D057A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664" y="1828800"/>
            <a:ext cx="3278639" cy="2459534"/>
          </a:xfrm>
          <a:prstGeom prst="rect">
            <a:avLst/>
          </a:prstGeom>
        </p:spPr>
      </p:pic>
      <p:pic>
        <p:nvPicPr>
          <p:cNvPr id="13" name="Picture 22534" descr="image.jpeg">
            <a:extLst>
              <a:ext uri="{FF2B5EF4-FFF2-40B4-BE49-F238E27FC236}">
                <a16:creationId xmlns:a16="http://schemas.microsoft.com/office/drawing/2014/main" id="{97595CCF-583F-6794-6F4A-2B7F090F5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024" y="1828800"/>
            <a:ext cx="3278639" cy="2459534"/>
          </a:xfrm>
          <a:prstGeom prst="rect">
            <a:avLst/>
          </a:prstGeom>
        </p:spPr>
      </p:pic>
      <p:pic>
        <p:nvPicPr>
          <p:cNvPr id="16" name="Picture 22535" descr="image.jpeg">
            <a:extLst>
              <a:ext uri="{FF2B5EF4-FFF2-40B4-BE49-F238E27FC236}">
                <a16:creationId xmlns:a16="http://schemas.microsoft.com/office/drawing/2014/main" id="{A6B0C5A9-DC6E-0AAA-4CD2-A9FA8DC6F9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305" y="4334054"/>
            <a:ext cx="3278393" cy="2459349"/>
          </a:xfrm>
          <a:prstGeom prst="rect">
            <a:avLst/>
          </a:prstGeom>
        </p:spPr>
      </p:pic>
      <p:pic>
        <p:nvPicPr>
          <p:cNvPr id="18" name="Picture 22536" descr="image.jpeg">
            <a:extLst>
              <a:ext uri="{FF2B5EF4-FFF2-40B4-BE49-F238E27FC236}">
                <a16:creationId xmlns:a16="http://schemas.microsoft.com/office/drawing/2014/main" id="{624EAF18-650C-B3E2-FE85-B2674190DF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6418" y="4334054"/>
            <a:ext cx="3278393" cy="2459349"/>
          </a:xfrm>
          <a:prstGeom prst="rect">
            <a:avLst/>
          </a:prstGeom>
        </p:spPr>
      </p:pic>
      <p:pic>
        <p:nvPicPr>
          <p:cNvPr id="20" name="Picture 22537" descr="image.jpeg">
            <a:extLst>
              <a:ext uri="{FF2B5EF4-FFF2-40B4-BE49-F238E27FC236}">
                <a16:creationId xmlns:a16="http://schemas.microsoft.com/office/drawing/2014/main" id="{1BBA2183-9B20-AA61-739F-C83694F250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0531" y="4334054"/>
            <a:ext cx="3279132" cy="245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29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教育類主題 16x9">
  <a:themeElements>
    <a:clrScheme name="自訂 1">
      <a:dk1>
        <a:srgbClr val="1F497D"/>
      </a:dk1>
      <a:lt1>
        <a:srgbClr val="EEECE1"/>
      </a:lt1>
      <a:dk2>
        <a:srgbClr val="1F497D"/>
      </a:dk2>
      <a:lt2>
        <a:srgbClr val="DBE5F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0525322_TF03462902_TF03462902.potx" id="{75934AA0-EA7E-48C9-AC6C-B8776C9980C1}" vid="{F712579A-141C-4177-A05B-4907AD265093}"/>
    </a:ext>
  </a:extLst>
</a:theme>
</file>

<file path=ppt/theme/theme2.xml><?xml version="1.0" encoding="utf-8"?>
<a:theme xmlns:a="http://schemas.openxmlformats.org/drawingml/2006/main" name="Office 佈景主題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教育類主題簡報：黑板手繪設計 (寬螢幕)</Template>
  <TotalTime>23934</TotalTime>
  <Words>474</Words>
  <Application>Microsoft Office PowerPoint</Application>
  <PresentationFormat>寬螢幕</PresentationFormat>
  <Paragraphs>102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Microsoft JhengHei UI</vt:lpstr>
      <vt:lpstr>微軟正黑體</vt:lpstr>
      <vt:lpstr>Wingdings</vt:lpstr>
      <vt:lpstr>教育類主題 16x9</vt:lpstr>
      <vt:lpstr>PowerPoint 簡報</vt:lpstr>
      <vt:lpstr>兆豐銀行－宏明</vt:lpstr>
      <vt:lpstr>兆豐銀行－宏明</vt:lpstr>
      <vt:lpstr>監控箱</vt:lpstr>
      <vt:lpstr>ACP箱體</vt:lpstr>
      <vt:lpstr>未完成項目</vt:lpstr>
      <vt:lpstr>台以八翁－宏明</vt:lpstr>
      <vt:lpstr>綠憑審查</vt:lpstr>
      <vt:lpstr>法蘭摩沙－鎮寶、名湶、俊雄</vt:lpstr>
      <vt:lpstr>施工進度表</vt:lpstr>
      <vt:lpstr>儀表安裝、配管工程</vt:lpstr>
      <vt:lpstr>儀表安裝、配管工程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工程部週會 會議記錄</dc:title>
  <dc:creator>user</dc:creator>
  <cp:lastModifiedBy>User6</cp:lastModifiedBy>
  <cp:revision>1639</cp:revision>
  <dcterms:created xsi:type="dcterms:W3CDTF">2024-09-06T09:16:56Z</dcterms:created>
  <dcterms:modified xsi:type="dcterms:W3CDTF">2026-10-16T02:36:41Z</dcterms:modified>
</cp:coreProperties>
</file>